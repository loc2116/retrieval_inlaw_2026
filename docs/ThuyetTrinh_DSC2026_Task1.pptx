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Public LB</c:v>
                </c:pt>
              </c:strCache>
            </c:strRef>
          </c:tx>
          <c:spPr>
            <a:solidFill>
              <a:srgbClr val="16233D"/>
            </a:solidFill>
            <a:effectLst/>
          </c:spPr>
          <c:invertIfNegative val="0"/>
          <c:dLbls>
            <c:numFmt formatCode="0.0000" sourceLinked="0"/>
            <c:txPr>
              <a:bodyPr/>
              <a:lstStyle/>
              <a:p>
                <a:pPr>
                  <a:defRPr b="0" i="0" strike="noStrike" sz="1100" u="none">
                    <a:solidFill>
                      <a:srgbClr val="16233D"/>
                    </a:solidFill>
                    <a:latin typeface="Arial"/>
                  </a:defRPr>
                </a:pPr>
              </a:p>
            </c:txPr>
            <c:showLegendKey val="0"/>
            <c:showVal val="1"/>
            <c:showCatName val="0"/>
            <c:showSerName val="0"/>
            <c:showPercent val="0"/>
            <c:showBubbleSize val="0"/>
            <c:showLeaderLines val="0"/>
          </c:dLbls>
          <c:cat>
            <c:multiLvlStrRef>
              <c:f>Sheet1!$A$2:$A$9</c:f>
              <c:multiLvlStrCache>
                <c:ptCount val="8"/>
                <c:lvl>
                  <c:pt idx="0">
                    <c:v>Cross-encoder thuần</c:v>
                  </c:pt>
                  <c:pt idx="1">
                    <c:v>+ Slot-Reservation</c:v>
                  </c:pt>
                  <c:pt idx="2">
                    <c:v>+ MaxP (đọc sâu)</c:v>
                  </c:pt>
                  <c:pt idx="3">
                    <c:v>+ Chunk-level BM25</c:v>
                  </c:pt>
                  <c:pt idx="4">
                    <c:v>+ RRF Hybrid</c:v>
                  </c:pt>
                  <c:pt idx="5">
                    <c:v>+ M: 10→20</c:v>
                  </c:pt>
                  <c:pt idx="6">
                    <c:v>+ Encoder alignment</c:v>
                  </c:pt>
                  <c:pt idx="7">
                    <c:v>+ K: 20→50</c:v>
                  </c:pt>
                </c:lvl>
              </c:multiLvlStrCache>
            </c:multiLvlStrRef>
          </c:cat>
          <c:val>
            <c:numRef>
              <c:f>Sheet1!$B$2:$B$9</c:f>
              <c:numCache>
                <c:formatCode>General</c:formatCode>
                <c:ptCount val="8"/>
                <c:pt idx="0">
                  <c:v>0.835</c:v>
                </c:pt>
                <c:pt idx="1">
                  <c:v>0.8573</c:v>
                </c:pt>
                <c:pt idx="2">
                  <c:v>0.884</c:v>
                </c:pt>
                <c:pt idx="3">
                  <c:v>0.8871</c:v>
                </c:pt>
                <c:pt idx="4">
                  <c:v>0.9063</c:v>
                </c:pt>
                <c:pt idx="5">
                  <c:v>0.9109</c:v>
                </c:pt>
                <c:pt idx="6">
                  <c:v>0.9118</c:v>
                </c:pt>
                <c:pt idx="7">
                  <c:v>0.9124</c:v>
                </c:pt>
              </c:numCache>
            </c:numRef>
          </c:val>
        </c:ser>
        <c:dLbls>
          <c:numFmt formatCode="0.0000" sourceLinked="0"/>
          <c:txPr>
            <a:bodyPr/>
            <a:lstStyle/>
            <a:p>
              <a:pPr>
                <a:defRPr b="0" i="0" strike="noStrike" sz="1100" u="none">
                  <a:solidFill>
                    <a:srgbClr val="16233D"/>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C3E63"/>
                </a:solidFill>
                <a:latin typeface="Arial"/>
              </a:defRPr>
            </a:pPr>
            <a:endParaRPr lang="en-US"/>
          </a:p>
        </c:txPr>
        <c:crossAx val="2094734552"/>
        <c:crosses val="autoZero"/>
        <c:auto val="1"/>
        <c:lblAlgn val="ctr"/>
        <c:noMultiLvlLbl val="1"/>
      </c:catAx>
      <c:valAx>
        <c:axId val="2094734552"/>
        <c:scaling>
          <c:orientation val="minMax"/>
          <c:max val="0.93"/>
          <c:min val="0.8"/>
        </c:scaling>
        <c:delete val="0"/>
        <c:axPos val="b"/>
        <c:majorGridlines>
          <c:spPr>
            <a:ln w="6350" cap="flat">
              <a:solidFill>
                <a:srgbClr val="C9D2D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0708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hệ thống trả 5 văn bản cho mỗi câu hỏi pháp luật. Điểm hiện tại 0.9124 trên bảng xếp hạng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ý cuối: cái khó không phải tìm văn bản giống, mà tìm văn bản có thẩm quyền.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bước. Bốn bước đầu là truy hồi, hai bước cuối là xếp hạng — phần tôi phụ trách.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Trục ngang là Recall@5 trên public leaderboard. Mỗi vạch là một thay đổi kiến trúc.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nhấn: rổ 50 văn bản đã hoà có trần cao hơn rổ 100 văn bản chưa hoà.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MaxP = max-passage scoring. Nới rộng vùng đọc rẻ và chắc ăn hơn làm bộ chọn thông minh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heuristic nhóm tự nghĩ, không phải phương pháp có sẵn trong tài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mạnh nhất. Đo bằng cách đếm trực tiếp trên 300 câu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thức: cùng 300 câu, cùng rổ, cùng 15.000 cặp cho mọi model. Chỉ đổi một biến.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giá trị của bảng này là biết CHẮC hướng nào không đi được, chứ không phải danh sách thất bại.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về quy trình, không phải kỹ thuật. Ban giám khảo thường đánh giá cao phần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hệ thống còn 0,0759 dư địa tới trần, và toàn bộ nằm ở khâu truy hồi xếp lại thứ tự đầu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6233D"/>
          </a:solidFill>
          <a:ln/>
        </p:spPr>
      </p:sp>
      <p:sp>
        <p:nvSpPr>
          <p:cNvPr id="3" name="Text 1"/>
          <p:cNvSpPr txBox="1"/>
          <p:nvPr/>
        </p:nvSpPr>
        <p:spPr>
          <a:xfrm>
            <a:off x="822960" y="1371600"/>
            <a:ext cx="10515600" cy="320040"/>
          </a:xfrm>
          <a:prstGeom prst="rect">
            <a:avLst/>
          </a:prstGeom>
          <a:noFill/>
          <a:ln/>
        </p:spPr>
        <p:txBody>
          <a:bodyPr wrap="square" lIns="0" tIns="0" rIns="0" bIns="0" rtlCol="0" anchor="ctr"/>
          <a:lstStyle/>
          <a:p>
            <a:pPr indent="0" marL="0">
              <a:buNone/>
            </a:pPr>
            <a:r>
              <a:rPr lang="en-US" sz="1300" b="1" spc="250" kern="0" dirty="0">
                <a:solidFill>
                  <a:srgbClr val="CFDBEC"/>
                </a:solidFill>
                <a:latin typeface="Calibri" pitchFamily="34" charset="0"/>
                <a:ea typeface="Calibri" pitchFamily="34" charset="-122"/>
                <a:cs typeface="Calibri" pitchFamily="34" charset="-120"/>
              </a:rPr>
              <a:t>DSC 2026 · TASK 1 — LEGAL INFORMATION RETRIEVAL</a:t>
            </a:r>
            <a:endParaRPr lang="en-US" sz="1300" dirty="0"/>
          </a:p>
        </p:txBody>
      </p:sp>
      <p:sp>
        <p:nvSpPr>
          <p:cNvPr id="4" name="Text 2"/>
          <p:cNvSpPr txBox="1"/>
          <p:nvPr/>
        </p:nvSpPr>
        <p:spPr>
          <a:xfrm>
            <a:off x="822960" y="182880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Times New Roman" pitchFamily="34" charset="0"/>
                <a:ea typeface="Times New Roman" pitchFamily="34" charset="-122"/>
                <a:cs typeface="Times New Roman" pitchFamily="34" charset="-120"/>
              </a:rPr>
              <a:t>Truy hồi văn bản pháp luật tiếng Việt</a:t>
            </a:r>
            <a:endParaRPr lang="en-US" sz="4400" dirty="0"/>
          </a:p>
        </p:txBody>
      </p:sp>
      <p:sp>
        <p:nvSpPr>
          <p:cNvPr id="5" name="Text 3"/>
          <p:cNvSpPr txBox="1"/>
          <p:nvPr/>
        </p:nvSpPr>
        <p:spPr>
          <a:xfrm>
            <a:off x="822960" y="2788920"/>
            <a:ext cx="10515600" cy="457200"/>
          </a:xfrm>
          <a:prstGeom prst="rect">
            <a:avLst/>
          </a:prstGeom>
          <a:noFill/>
          <a:ln/>
        </p:spPr>
        <p:txBody>
          <a:bodyPr wrap="square" lIns="0" tIns="0" rIns="0" bIns="0" rtlCol="0" anchor="ctr"/>
          <a:lstStyle/>
          <a:p>
            <a:pPr indent="0" marL="0">
              <a:buNone/>
            </a:pPr>
            <a:r>
              <a:rPr lang="en-US" sz="1900" dirty="0">
                <a:solidFill>
                  <a:srgbClr val="CFDBEC"/>
                </a:solidFill>
                <a:latin typeface="Calibri" pitchFamily="34" charset="0"/>
                <a:ea typeface="Calibri" pitchFamily="34" charset="-122"/>
                <a:cs typeface="Calibri" pitchFamily="34" charset="-120"/>
              </a:rPr>
              <a:t>Kiến trúc hai tầng: Hybrid Retrieval → Cross-Encoder Reranking</a:t>
            </a:r>
            <a:endParaRPr lang="en-US" sz="1900" dirty="0"/>
          </a:p>
        </p:txBody>
      </p:sp>
      <p:sp>
        <p:nvSpPr>
          <p:cNvPr id="6" name="Shape 4"/>
          <p:cNvSpPr/>
          <p:nvPr/>
        </p:nvSpPr>
        <p:spPr>
          <a:xfrm>
            <a:off x="822960" y="3749040"/>
            <a:ext cx="3200400" cy="1417320"/>
          </a:xfrm>
          <a:prstGeom prst="roundRect">
            <a:avLst>
              <a:gd name="adj" fmla="val 5161"/>
            </a:avLst>
          </a:prstGeom>
          <a:solidFill>
            <a:srgbClr val="1F3358"/>
          </a:solidFill>
          <a:ln w="12700">
            <a:solidFill>
              <a:srgbClr val="3B5480"/>
            </a:solidFill>
            <a:prstDash val="solid"/>
          </a:ln>
        </p:spPr>
      </p:sp>
      <p:sp>
        <p:nvSpPr>
          <p:cNvPr id="7" name="Text 5"/>
          <p:cNvSpPr txBox="1"/>
          <p:nvPr/>
        </p:nvSpPr>
        <p:spPr>
          <a:xfrm>
            <a:off x="822960" y="3913632"/>
            <a:ext cx="3200400" cy="731520"/>
          </a:xfrm>
          <a:prstGeom prst="rect">
            <a:avLst/>
          </a:prstGeom>
          <a:noFill/>
          <a:ln/>
        </p:spPr>
        <p:txBody>
          <a:bodyPr wrap="square" lIns="0" tIns="0" rIns="0" bIns="0" rtlCol="0" anchor="ctr"/>
          <a:lstStyle/>
          <a:p>
            <a:pPr algn="ctr" indent="0" marL="0">
              <a:buNone/>
            </a:pPr>
            <a:r>
              <a:rPr lang="en-US" sz="4400" b="1" dirty="0">
                <a:solidFill>
                  <a:srgbClr val="FFFFFF"/>
                </a:solidFill>
                <a:latin typeface="Times New Roman" pitchFamily="34" charset="0"/>
                <a:ea typeface="Times New Roman" pitchFamily="34" charset="-122"/>
                <a:cs typeface="Times New Roman" pitchFamily="34" charset="-120"/>
              </a:rPr>
              <a:t>0.9124</a:t>
            </a:r>
            <a:endParaRPr lang="en-US" sz="4400" dirty="0"/>
          </a:p>
        </p:txBody>
      </p:sp>
      <p:sp>
        <p:nvSpPr>
          <p:cNvPr id="8" name="Text 6"/>
          <p:cNvSpPr txBox="1"/>
          <p:nvPr/>
        </p:nvSpPr>
        <p:spPr>
          <a:xfrm>
            <a:off x="822960" y="4645152"/>
            <a:ext cx="3200400" cy="365760"/>
          </a:xfrm>
          <a:prstGeom prst="rect">
            <a:avLst/>
          </a:prstGeom>
          <a:noFill/>
          <a:ln/>
        </p:spPr>
        <p:txBody>
          <a:bodyPr wrap="square" lIns="0" tIns="0" rIns="0" bIns="0" rtlCol="0" anchor="ctr"/>
          <a:lstStyle/>
          <a:p>
            <a:pPr algn="ctr" indent="0" marL="0">
              <a:buNone/>
            </a:pPr>
            <a:r>
              <a:rPr lang="en-US" sz="1150" dirty="0">
                <a:solidFill>
                  <a:srgbClr val="CFDBEC"/>
                </a:solidFill>
                <a:latin typeface="Calibri" pitchFamily="34" charset="0"/>
                <a:ea typeface="Calibri" pitchFamily="34" charset="-122"/>
                <a:cs typeface="Calibri" pitchFamily="34" charset="-120"/>
              </a:rPr>
              <a:t>Recall@5 · public leaderboard</a:t>
            </a:r>
            <a:endParaRPr lang="en-US" sz="1150" dirty="0"/>
          </a:p>
        </p:txBody>
      </p:sp>
      <p:sp>
        <p:nvSpPr>
          <p:cNvPr id="9" name="Text 7"/>
          <p:cNvSpPr txBox="1"/>
          <p:nvPr/>
        </p:nvSpPr>
        <p:spPr>
          <a:xfrm>
            <a:off x="4480560" y="3794760"/>
            <a:ext cx="4572000" cy="1371600"/>
          </a:xfrm>
          <a:prstGeom prst="rect">
            <a:avLst/>
          </a:prstGeom>
          <a:noFill/>
          <a:ln/>
        </p:spPr>
        <p:txBody>
          <a:bodyPr wrap="square" lIns="0" tIns="0" rIns="0" bIns="0" rtlCol="0" anchor="ctr"/>
          <a:lstStyle/>
          <a:p>
            <a:pPr indent="0" marL="0">
              <a:lnSpc>
                <a:spcPts val="2400"/>
              </a:lnSpc>
              <a:buNone/>
            </a:pPr>
            <a:r>
              <a:rPr lang="en-US" sz="1400" dirty="0">
                <a:solidFill>
                  <a:srgbClr val="CFDBEC"/>
                </a:solidFill>
                <a:latin typeface="Calibri" pitchFamily="34" charset="0"/>
                <a:ea typeface="Calibri" pitchFamily="34" charset="-122"/>
                <a:cs typeface="Calibri" pitchFamily="34" charset="-120"/>
              </a:rPr>
              <a:t>8.532 văn bản trong kho</a:t>
            </a:r>
            <a:endParaRPr lang="en-US" sz="1400" dirty="0"/>
          </a:p>
          <a:p>
            <a:pPr indent="0" marL="0">
              <a:lnSpc>
                <a:spcPts val="2400"/>
              </a:lnSpc>
              <a:buNone/>
            </a:pPr>
            <a:r>
              <a:rPr lang="en-US" sz="1400" dirty="0">
                <a:solidFill>
                  <a:srgbClr val="CFDBEC"/>
                </a:solidFill>
                <a:latin typeface="Calibri" pitchFamily="34" charset="0"/>
                <a:ea typeface="Calibri" pitchFamily="34" charset="-122"/>
                <a:cs typeface="Calibri" pitchFamily="34" charset="-120"/>
              </a:rPr>
              <a:t>1.000 câu hỏi đề thi</a:t>
            </a:r>
            <a:endParaRPr lang="en-US" sz="1400" dirty="0"/>
          </a:p>
          <a:p>
            <a:pPr indent="0" marL="0">
              <a:lnSpc>
                <a:spcPts val="2400"/>
              </a:lnSpc>
              <a:buNone/>
            </a:pPr>
            <a:r>
              <a:rPr lang="en-US" sz="1400" dirty="0">
                <a:solidFill>
                  <a:srgbClr val="CFDBEC"/>
                </a:solidFill>
                <a:latin typeface="Calibri" pitchFamily="34" charset="0"/>
                <a:ea typeface="Calibri" pitchFamily="34" charset="-122"/>
                <a:cs typeface="Calibri" pitchFamily="34" charset="-120"/>
              </a:rPr>
              <a:t>32 phương án đã thí nghiệm</a:t>
            </a:r>
            <a:endParaRPr lang="en-US" sz="1400" dirty="0"/>
          </a:p>
        </p:txBody>
      </p:sp>
      <p:sp>
        <p:nvSpPr>
          <p:cNvPr id="10" name="Text 8"/>
          <p:cNvSpPr txBox="1"/>
          <p:nvPr/>
        </p:nvSpPr>
        <p:spPr>
          <a:xfrm>
            <a:off x="822960" y="5852160"/>
            <a:ext cx="10515600" cy="365760"/>
          </a:xfrm>
          <a:prstGeom prst="rect">
            <a:avLst/>
          </a:prstGeom>
          <a:noFill/>
          <a:ln/>
        </p:spPr>
        <p:txBody>
          <a:bodyPr wrap="square" lIns="0" tIns="0" rIns="0" bIns="0" rtlCol="0" anchor="ctr"/>
          <a:lstStyle/>
          <a:p>
            <a:pPr indent="0" marL="0">
              <a:buNone/>
            </a:pPr>
            <a:r>
              <a:rPr lang="en-US" sz="1200" dirty="0">
                <a:solidFill>
                  <a:srgbClr val="8FA5C4"/>
                </a:solidFill>
                <a:latin typeface="Calibri" pitchFamily="34" charset="0"/>
                <a:ea typeface="Calibri" pitchFamily="34" charset="-122"/>
                <a:cs typeface="Calibri" pitchFamily="34" charset="-120"/>
              </a:rPr>
              <a:t>Khim — thành viên E · Xếp hạng &amp; chốt top-5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A6202B"/>
                </a:solidFill>
                <a:latin typeface="Calibri" pitchFamily="34" charset="0"/>
                <a:ea typeface="Calibri" pitchFamily="34" charset="-122"/>
                <a:cs typeface="Calibri" pitchFamily="34" charset="-120"/>
              </a:rPr>
              <a:t>ĐẶT VẤN ĐỀ</a:t>
            </a:r>
            <a:endParaRPr lang="en-US" sz="12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6233D"/>
                </a:solidFill>
                <a:latin typeface="Times New Roman" pitchFamily="34" charset="0"/>
                <a:ea typeface="Times New Roman" pitchFamily="34" charset="-122"/>
                <a:cs typeface="Times New Roman" pitchFamily="34" charset="-120"/>
              </a:rPr>
              <a:t>Bài toán và cách chấm điểm</a:t>
            </a:r>
            <a:endParaRPr lang="en-US" sz="3400" dirty="0"/>
          </a:p>
        </p:txBody>
      </p:sp>
      <p:sp>
        <p:nvSpPr>
          <p:cNvPr id="4" name="Text 2"/>
          <p:cNvSpPr txBox="1"/>
          <p:nvPr/>
        </p:nvSpPr>
        <p:spPr>
          <a:xfrm>
            <a:off x="640080" y="1572768"/>
            <a:ext cx="10881360" cy="457200"/>
          </a:xfrm>
          <a:prstGeom prst="rect">
            <a:avLst/>
          </a:prstGeom>
          <a:noFill/>
          <a:ln/>
        </p:spPr>
        <p:txBody>
          <a:bodyPr wrap="square" lIns="0" tIns="0" rIns="0" bIns="0" rtlCol="0" anchor="ctr"/>
          <a:lstStyle/>
          <a:p>
            <a:pPr indent="0" marL="0">
              <a:buNone/>
            </a:pPr>
            <a:r>
              <a:rPr lang="en-US" sz="1500" dirty="0">
                <a:solidFill>
                  <a:srgbClr val="2C3E63"/>
                </a:solidFill>
                <a:latin typeface="Calibri" pitchFamily="34" charset="0"/>
                <a:ea typeface="Calibri" pitchFamily="34" charset="-122"/>
                <a:cs typeface="Calibri" pitchFamily="34" charset="-120"/>
              </a:rPr>
              <a:t>Cho một câu hỏi pháp luật, tìm trong kho 8.532 văn bản và trả về tối đa 5 văn bản có khả năng chứa câu trả lời.</a:t>
            </a:r>
            <a:endParaRPr lang="en-US" sz="1500" dirty="0"/>
          </a:p>
        </p:txBody>
      </p:sp>
      <p:sp>
        <p:nvSpPr>
          <p:cNvPr id="5" name="Shape 3"/>
          <p:cNvSpPr/>
          <p:nvPr/>
        </p:nvSpPr>
        <p:spPr>
          <a:xfrm>
            <a:off x="640080" y="2240280"/>
            <a:ext cx="2468880" cy="1371600"/>
          </a:xfrm>
          <a:prstGeom prst="roundRect">
            <a:avLst>
              <a:gd name="adj" fmla="val 5333"/>
            </a:avLst>
          </a:prstGeom>
          <a:solidFill>
            <a:srgbClr val="EEF1F6"/>
          </a:solidFill>
          <a:ln w="9525">
            <a:solidFill>
              <a:srgbClr val="C9D2DF"/>
            </a:solidFill>
            <a:prstDash val="solid"/>
          </a:ln>
        </p:spPr>
      </p:sp>
      <p:sp>
        <p:nvSpPr>
          <p:cNvPr id="6" name="Text 4"/>
          <p:cNvSpPr txBox="1"/>
          <p:nvPr/>
        </p:nvSpPr>
        <p:spPr>
          <a:xfrm>
            <a:off x="640080" y="2386584"/>
            <a:ext cx="2468880" cy="658368"/>
          </a:xfrm>
          <a:prstGeom prst="rect">
            <a:avLst/>
          </a:prstGeom>
          <a:noFill/>
          <a:ln/>
        </p:spPr>
        <p:txBody>
          <a:bodyPr wrap="square" lIns="0" tIns="0" rIns="0" bIns="0" rtlCol="0" anchor="ctr"/>
          <a:lstStyle/>
          <a:p>
            <a:pPr algn="ctr" indent="0" marL="0">
              <a:buNone/>
            </a:pPr>
            <a:r>
              <a:rPr lang="en-US" sz="3400" b="1" dirty="0">
                <a:solidFill>
                  <a:srgbClr val="16233D"/>
                </a:solidFill>
                <a:latin typeface="Times New Roman" pitchFamily="34" charset="0"/>
                <a:ea typeface="Times New Roman" pitchFamily="34" charset="-122"/>
                <a:cs typeface="Times New Roman" pitchFamily="34" charset="-120"/>
              </a:rPr>
              <a:t>8.532</a:t>
            </a:r>
            <a:endParaRPr lang="en-US" sz="3400" dirty="0"/>
          </a:p>
        </p:txBody>
      </p:sp>
      <p:sp>
        <p:nvSpPr>
          <p:cNvPr id="7" name="Text 5"/>
          <p:cNvSpPr txBox="1"/>
          <p:nvPr/>
        </p:nvSpPr>
        <p:spPr>
          <a:xfrm>
            <a:off x="749808" y="3081528"/>
            <a:ext cx="2249424" cy="438912"/>
          </a:xfrm>
          <a:prstGeom prst="rect">
            <a:avLst/>
          </a:prstGeom>
          <a:noFill/>
          <a:ln/>
        </p:spPr>
        <p:txBody>
          <a:bodyPr wrap="square" lIns="0" tIns="0" rIns="0" bIns="0" rtlCol="0" anchor="ctr"/>
          <a:lstStyle/>
          <a:p>
            <a:pPr algn="ctr" indent="0" marL="0">
              <a:buNone/>
            </a:pPr>
            <a:r>
              <a:rPr lang="en-US" sz="1100" dirty="0">
                <a:solidFill>
                  <a:srgbClr val="60708A"/>
                </a:solidFill>
                <a:latin typeface="Calibri" pitchFamily="34" charset="0"/>
                <a:ea typeface="Calibri" pitchFamily="34" charset="-122"/>
                <a:cs typeface="Calibri" pitchFamily="34" charset="-120"/>
              </a:rPr>
              <a:t>văn bản pháp luật trong kho</a:t>
            </a:r>
            <a:endParaRPr lang="en-US" sz="1100" dirty="0"/>
          </a:p>
        </p:txBody>
      </p:sp>
      <p:sp>
        <p:nvSpPr>
          <p:cNvPr id="8" name="Shape 6"/>
          <p:cNvSpPr/>
          <p:nvPr/>
        </p:nvSpPr>
        <p:spPr>
          <a:xfrm>
            <a:off x="3337560" y="2240280"/>
            <a:ext cx="2468880" cy="1371600"/>
          </a:xfrm>
          <a:prstGeom prst="roundRect">
            <a:avLst>
              <a:gd name="adj" fmla="val 5333"/>
            </a:avLst>
          </a:prstGeom>
          <a:solidFill>
            <a:srgbClr val="EEF1F6"/>
          </a:solidFill>
          <a:ln w="9525">
            <a:solidFill>
              <a:srgbClr val="C9D2DF"/>
            </a:solidFill>
            <a:prstDash val="solid"/>
          </a:ln>
        </p:spPr>
      </p:sp>
      <p:sp>
        <p:nvSpPr>
          <p:cNvPr id="9" name="Text 7"/>
          <p:cNvSpPr txBox="1"/>
          <p:nvPr/>
        </p:nvSpPr>
        <p:spPr>
          <a:xfrm>
            <a:off x="3337560" y="2386584"/>
            <a:ext cx="2468880" cy="658368"/>
          </a:xfrm>
          <a:prstGeom prst="rect">
            <a:avLst/>
          </a:prstGeom>
          <a:noFill/>
          <a:ln/>
        </p:spPr>
        <p:txBody>
          <a:bodyPr wrap="square" lIns="0" tIns="0" rIns="0" bIns="0" rtlCol="0" anchor="ctr"/>
          <a:lstStyle/>
          <a:p>
            <a:pPr algn="ctr" indent="0" marL="0">
              <a:buNone/>
            </a:pPr>
            <a:r>
              <a:rPr lang="en-US" sz="3400" b="1" dirty="0">
                <a:solidFill>
                  <a:srgbClr val="16233D"/>
                </a:solidFill>
                <a:latin typeface="Times New Roman" pitchFamily="34" charset="0"/>
                <a:ea typeface="Times New Roman" pitchFamily="34" charset="-122"/>
                <a:cs typeface="Times New Roman" pitchFamily="34" charset="-120"/>
              </a:rPr>
              <a:t>1.000</a:t>
            </a:r>
            <a:endParaRPr lang="en-US" sz="3400" dirty="0"/>
          </a:p>
        </p:txBody>
      </p:sp>
      <p:sp>
        <p:nvSpPr>
          <p:cNvPr id="10" name="Text 8"/>
          <p:cNvSpPr txBox="1"/>
          <p:nvPr/>
        </p:nvSpPr>
        <p:spPr>
          <a:xfrm>
            <a:off x="3447288" y="3081528"/>
            <a:ext cx="2249424" cy="438912"/>
          </a:xfrm>
          <a:prstGeom prst="rect">
            <a:avLst/>
          </a:prstGeom>
          <a:noFill/>
          <a:ln/>
        </p:spPr>
        <p:txBody>
          <a:bodyPr wrap="square" lIns="0" tIns="0" rIns="0" bIns="0" rtlCol="0" anchor="ctr"/>
          <a:lstStyle/>
          <a:p>
            <a:pPr algn="ctr" indent="0" marL="0">
              <a:buNone/>
            </a:pPr>
            <a:r>
              <a:rPr lang="en-US" sz="1100" dirty="0">
                <a:solidFill>
                  <a:srgbClr val="60708A"/>
                </a:solidFill>
                <a:latin typeface="Calibri" pitchFamily="34" charset="0"/>
                <a:ea typeface="Calibri" pitchFamily="34" charset="-122"/>
                <a:cs typeface="Calibri" pitchFamily="34" charset="-120"/>
              </a:rPr>
              <a:t>câu hỏi đề thi (không nhãn)</a:t>
            </a:r>
            <a:endParaRPr lang="en-US" sz="1100" dirty="0"/>
          </a:p>
        </p:txBody>
      </p:sp>
      <p:sp>
        <p:nvSpPr>
          <p:cNvPr id="11" name="Shape 9"/>
          <p:cNvSpPr/>
          <p:nvPr/>
        </p:nvSpPr>
        <p:spPr>
          <a:xfrm>
            <a:off x="6035040" y="2240280"/>
            <a:ext cx="2468880" cy="1371600"/>
          </a:xfrm>
          <a:prstGeom prst="roundRect">
            <a:avLst>
              <a:gd name="adj" fmla="val 5333"/>
            </a:avLst>
          </a:prstGeom>
          <a:solidFill>
            <a:srgbClr val="EEF1F6"/>
          </a:solidFill>
          <a:ln w="9525">
            <a:solidFill>
              <a:srgbClr val="C9D2DF"/>
            </a:solidFill>
            <a:prstDash val="solid"/>
          </a:ln>
        </p:spPr>
      </p:sp>
      <p:sp>
        <p:nvSpPr>
          <p:cNvPr id="12" name="Text 10"/>
          <p:cNvSpPr txBox="1"/>
          <p:nvPr/>
        </p:nvSpPr>
        <p:spPr>
          <a:xfrm>
            <a:off x="6035040" y="2386584"/>
            <a:ext cx="2468880" cy="658368"/>
          </a:xfrm>
          <a:prstGeom prst="rect">
            <a:avLst/>
          </a:prstGeom>
          <a:noFill/>
          <a:ln/>
        </p:spPr>
        <p:txBody>
          <a:bodyPr wrap="square" lIns="0" tIns="0" rIns="0" bIns="0" rtlCol="0" anchor="ctr"/>
          <a:lstStyle/>
          <a:p>
            <a:pPr algn="ctr" indent="0" marL="0">
              <a:buNone/>
            </a:pPr>
            <a:r>
              <a:rPr lang="en-US" sz="3400" b="1" dirty="0">
                <a:solidFill>
                  <a:srgbClr val="16233D"/>
                </a:solidFill>
                <a:latin typeface="Times New Roman" pitchFamily="34" charset="0"/>
                <a:ea typeface="Times New Roman" pitchFamily="34" charset="-122"/>
                <a:cs typeface="Times New Roman" pitchFamily="34" charset="-120"/>
              </a:rPr>
              <a:t>5</a:t>
            </a:r>
            <a:endParaRPr lang="en-US" sz="3400" dirty="0"/>
          </a:p>
        </p:txBody>
      </p:sp>
      <p:sp>
        <p:nvSpPr>
          <p:cNvPr id="13" name="Text 11"/>
          <p:cNvSpPr txBox="1"/>
          <p:nvPr/>
        </p:nvSpPr>
        <p:spPr>
          <a:xfrm>
            <a:off x="6144768" y="3081528"/>
            <a:ext cx="2249424" cy="438912"/>
          </a:xfrm>
          <a:prstGeom prst="rect">
            <a:avLst/>
          </a:prstGeom>
          <a:noFill/>
          <a:ln/>
        </p:spPr>
        <p:txBody>
          <a:bodyPr wrap="square" lIns="0" tIns="0" rIns="0" bIns="0" rtlCol="0" anchor="ctr"/>
          <a:lstStyle/>
          <a:p>
            <a:pPr algn="ctr" indent="0" marL="0">
              <a:buNone/>
            </a:pPr>
            <a:r>
              <a:rPr lang="en-US" sz="1100" dirty="0">
                <a:solidFill>
                  <a:srgbClr val="60708A"/>
                </a:solidFill>
                <a:latin typeface="Calibri" pitchFamily="34" charset="0"/>
                <a:ea typeface="Calibri" pitchFamily="34" charset="-122"/>
                <a:cs typeface="Calibri" pitchFamily="34" charset="-120"/>
              </a:rPr>
              <a:t>số văn bản được phép nộp</a:t>
            </a:r>
            <a:endParaRPr lang="en-US" sz="1100" dirty="0"/>
          </a:p>
        </p:txBody>
      </p:sp>
      <p:sp>
        <p:nvSpPr>
          <p:cNvPr id="14" name="Shape 12"/>
          <p:cNvSpPr/>
          <p:nvPr/>
        </p:nvSpPr>
        <p:spPr>
          <a:xfrm>
            <a:off x="8732520" y="2240280"/>
            <a:ext cx="2788920" cy="1371600"/>
          </a:xfrm>
          <a:prstGeom prst="roundRect">
            <a:avLst>
              <a:gd name="adj" fmla="val 5333"/>
            </a:avLst>
          </a:prstGeom>
          <a:solidFill>
            <a:srgbClr val="EEF1F6"/>
          </a:solidFill>
          <a:ln w="9525">
            <a:solidFill>
              <a:srgbClr val="C9D2DF"/>
            </a:solidFill>
            <a:prstDash val="solid"/>
          </a:ln>
        </p:spPr>
      </p:sp>
      <p:sp>
        <p:nvSpPr>
          <p:cNvPr id="15" name="Text 13"/>
          <p:cNvSpPr txBox="1"/>
          <p:nvPr/>
        </p:nvSpPr>
        <p:spPr>
          <a:xfrm>
            <a:off x="8732520" y="2386584"/>
            <a:ext cx="2788920" cy="658368"/>
          </a:xfrm>
          <a:prstGeom prst="rect">
            <a:avLst/>
          </a:prstGeom>
          <a:noFill/>
          <a:ln/>
        </p:spPr>
        <p:txBody>
          <a:bodyPr wrap="square" lIns="0" tIns="0" rIns="0" bIns="0" rtlCol="0" anchor="ctr"/>
          <a:lstStyle/>
          <a:p>
            <a:pPr algn="ctr" indent="0" marL="0">
              <a:buNone/>
            </a:pPr>
            <a:r>
              <a:rPr lang="en-US" sz="3400" b="1" dirty="0">
                <a:solidFill>
                  <a:srgbClr val="A6202B"/>
                </a:solidFill>
                <a:latin typeface="Times New Roman" pitchFamily="34" charset="0"/>
                <a:ea typeface="Times New Roman" pitchFamily="34" charset="-122"/>
                <a:cs typeface="Times New Roman" pitchFamily="34" charset="-120"/>
              </a:rPr>
              <a:t>Recall@5</a:t>
            </a:r>
            <a:endParaRPr lang="en-US" sz="3400" dirty="0"/>
          </a:p>
        </p:txBody>
      </p:sp>
      <p:sp>
        <p:nvSpPr>
          <p:cNvPr id="16" name="Text 14"/>
          <p:cNvSpPr txBox="1"/>
          <p:nvPr/>
        </p:nvSpPr>
        <p:spPr>
          <a:xfrm>
            <a:off x="8842248" y="3081528"/>
            <a:ext cx="2569464" cy="438912"/>
          </a:xfrm>
          <a:prstGeom prst="rect">
            <a:avLst/>
          </a:prstGeom>
          <a:noFill/>
          <a:ln/>
        </p:spPr>
        <p:txBody>
          <a:bodyPr wrap="square" lIns="0" tIns="0" rIns="0" bIns="0" rtlCol="0" anchor="ctr"/>
          <a:lstStyle/>
          <a:p>
            <a:pPr algn="ctr" indent="0" marL="0">
              <a:buNone/>
            </a:pPr>
            <a:r>
              <a:rPr lang="en-US" sz="1100" dirty="0">
                <a:solidFill>
                  <a:srgbClr val="60708A"/>
                </a:solidFill>
                <a:latin typeface="Calibri" pitchFamily="34" charset="0"/>
                <a:ea typeface="Calibri" pitchFamily="34" charset="-122"/>
                <a:cs typeface="Calibri" pitchFamily="34" charset="-120"/>
              </a:rPr>
              <a:t>chỉ số chấm chính thức</a:t>
            </a:r>
            <a:endParaRPr lang="en-US" sz="1100" dirty="0"/>
          </a:p>
        </p:txBody>
      </p:sp>
      <p:sp>
        <p:nvSpPr>
          <p:cNvPr id="17" name="Shape 15"/>
          <p:cNvSpPr/>
          <p:nvPr/>
        </p:nvSpPr>
        <p:spPr>
          <a:xfrm>
            <a:off x="640080" y="3886200"/>
            <a:ext cx="5349240" cy="2331720"/>
          </a:xfrm>
          <a:prstGeom prst="roundRect">
            <a:avLst>
              <a:gd name="adj" fmla="val 3137"/>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18" name="Text 16"/>
          <p:cNvSpPr txBox="1"/>
          <p:nvPr/>
        </p:nvSpPr>
        <p:spPr>
          <a:xfrm>
            <a:off x="877824" y="4069080"/>
            <a:ext cx="4892040" cy="384048"/>
          </a:xfrm>
          <a:prstGeom prst="rect">
            <a:avLst/>
          </a:prstGeom>
          <a:noFill/>
          <a:ln/>
        </p:spPr>
        <p:txBody>
          <a:bodyPr wrap="square" lIns="0" tIns="0" rIns="0" bIns="0" rtlCol="0" anchor="ctr"/>
          <a:lstStyle/>
          <a:p>
            <a:pPr indent="0" marL="0">
              <a:buNone/>
            </a:pPr>
            <a:r>
              <a:rPr lang="en-US" sz="1500" b="1" dirty="0">
                <a:solidFill>
                  <a:srgbClr val="16233D"/>
                </a:solidFill>
                <a:latin typeface="Calibri" pitchFamily="34" charset="0"/>
                <a:ea typeface="Calibri" pitchFamily="34" charset="-122"/>
                <a:cs typeface="Calibri" pitchFamily="34" charset="-120"/>
              </a:rPr>
              <a:t>Công thức</a:t>
            </a:r>
            <a:endParaRPr lang="en-US" sz="1500" dirty="0"/>
          </a:p>
        </p:txBody>
      </p:sp>
      <p:sp>
        <p:nvSpPr>
          <p:cNvPr id="19" name="Text 17"/>
          <p:cNvSpPr txBox="1"/>
          <p:nvPr/>
        </p:nvSpPr>
        <p:spPr>
          <a:xfrm>
            <a:off x="877824" y="4489704"/>
            <a:ext cx="4892040" cy="154533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Recall của một câu  =  số văn bản đúng lọt vào top-5  ÷  tổng số văn bản đúng.</a:t>
            </a:r>
            <a:endParaRPr lang="en-US" sz="1250" dirty="0"/>
          </a:p>
          <a:p>
            <a:pPr indent="0" marL="0">
              <a:lnSpc>
                <a:spcPts val="1700"/>
              </a:lnSpc>
              <a:buNone/>
            </a:pPr>
            <a:endParaRPr lang="en-US" sz="1250" dirty="0"/>
          </a:p>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Điểm cuối = trung bình cộng qua toàn bộ câu hỏi.</a:t>
            </a:r>
            <a:endParaRPr lang="en-US" sz="1250" dirty="0"/>
          </a:p>
          <a:p>
            <a:pPr indent="0" marL="0">
              <a:lnSpc>
                <a:spcPts val="1700"/>
              </a:lnSpc>
              <a:buNone/>
            </a:pPr>
            <a:endParaRPr lang="en-US" sz="1250" dirty="0"/>
          </a:p>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Nộp quá 5 id thì RIÊNG câu đó bị chấm 0.</a:t>
            </a:r>
            <a:endParaRPr lang="en-US" sz="1250" dirty="0"/>
          </a:p>
        </p:txBody>
      </p:sp>
      <p:sp>
        <p:nvSpPr>
          <p:cNvPr id="20" name="Shape 18"/>
          <p:cNvSpPr/>
          <p:nvPr/>
        </p:nvSpPr>
        <p:spPr>
          <a:xfrm>
            <a:off x="6172200" y="3886200"/>
            <a:ext cx="5349240" cy="2331720"/>
          </a:xfrm>
          <a:prstGeom prst="roundRect">
            <a:avLst>
              <a:gd name="adj" fmla="val 3137"/>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21" name="Text 19"/>
          <p:cNvSpPr txBox="1"/>
          <p:nvPr/>
        </p:nvSpPr>
        <p:spPr>
          <a:xfrm>
            <a:off x="6409944" y="4069080"/>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Vì sao bài này khó</a:t>
            </a:r>
            <a:endParaRPr lang="en-US" sz="1500" dirty="0"/>
          </a:p>
        </p:txBody>
      </p:sp>
      <p:sp>
        <p:nvSpPr>
          <p:cNvPr id="22" name="Text 20"/>
          <p:cNvSpPr txBox="1"/>
          <p:nvPr/>
        </p:nvSpPr>
        <p:spPr>
          <a:xfrm>
            <a:off x="6409944" y="4489704"/>
            <a:ext cx="4892040" cy="154533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 Văn bản pháp luật dài hàng trăm điều khoản — đáp án nằm ở một điều, không phải cả văn bản.</a:t>
            </a:r>
            <a:endParaRPr lang="en-US" sz="1250" dirty="0"/>
          </a:p>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 Kho đầy văn bản gần trùng nội dung: nhiều văn bản trả lời được câu hỏi nhưng không được gán nhãn.</a:t>
            </a:r>
            <a:endParaRPr lang="en-US" sz="1250" dirty="0"/>
          </a:p>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 Đáp án đúng đòi biết văn bản nào có THẨM QUYỀN, không chỉ giống chữ.</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A6202B"/>
                </a:solidFill>
                <a:latin typeface="Calibri" pitchFamily="34" charset="0"/>
                <a:ea typeface="Calibri" pitchFamily="34" charset="-122"/>
                <a:cs typeface="Calibri" pitchFamily="34" charset="-120"/>
              </a:rPr>
              <a:t>KIẾN TRÚC</a:t>
            </a:r>
            <a:endParaRPr lang="en-US" sz="12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6233D"/>
                </a:solidFill>
                <a:latin typeface="Times New Roman" pitchFamily="34" charset="0"/>
                <a:ea typeface="Times New Roman" pitchFamily="34" charset="-122"/>
                <a:cs typeface="Times New Roman" pitchFamily="34" charset="-120"/>
              </a:rPr>
              <a:t>Pipeline hai tầng, sáu bước</a:t>
            </a:r>
            <a:endParaRPr lang="en-US" sz="3400" dirty="0"/>
          </a:p>
        </p:txBody>
      </p:sp>
      <p:sp>
        <p:nvSpPr>
          <p:cNvPr id="4" name="Shape 2"/>
          <p:cNvSpPr/>
          <p:nvPr/>
        </p:nvSpPr>
        <p:spPr>
          <a:xfrm>
            <a:off x="640080" y="1554480"/>
            <a:ext cx="10881360" cy="713232"/>
          </a:xfrm>
          <a:prstGeom prst="roundRect">
            <a:avLst>
              <a:gd name="adj" fmla="val 7692"/>
            </a:avLst>
          </a:prstGeom>
          <a:solidFill>
            <a:srgbClr val="FFFFFF"/>
          </a:solidFill>
          <a:ln w="9525">
            <a:solidFill>
              <a:srgbClr val="C9D2DF"/>
            </a:solidFill>
            <a:prstDash val="solid"/>
          </a:ln>
        </p:spPr>
      </p:sp>
      <p:sp>
        <p:nvSpPr>
          <p:cNvPr id="5" name="Shape 3"/>
          <p:cNvSpPr/>
          <p:nvPr/>
        </p:nvSpPr>
        <p:spPr>
          <a:xfrm>
            <a:off x="841248" y="1700784"/>
            <a:ext cx="457200" cy="457200"/>
          </a:xfrm>
          <a:prstGeom prst="ellipse">
            <a:avLst/>
          </a:prstGeom>
          <a:solidFill>
            <a:srgbClr val="16233D"/>
          </a:solidFill>
          <a:ln/>
        </p:spPr>
      </p:sp>
      <p:sp>
        <p:nvSpPr>
          <p:cNvPr id="6" name="Text 4"/>
          <p:cNvSpPr txBox="1"/>
          <p:nvPr/>
        </p:nvSpPr>
        <p:spPr>
          <a:xfrm>
            <a:off x="841248" y="1764792"/>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463040" y="1664208"/>
            <a:ext cx="4206240" cy="493776"/>
          </a:xfrm>
          <a:prstGeom prst="rect">
            <a:avLst/>
          </a:prstGeom>
          <a:noFill/>
          <a:ln/>
        </p:spPr>
        <p:txBody>
          <a:bodyPr wrap="square" lIns="0" tIns="0" rIns="0" bIns="0" rtlCol="0" anchor="ctr"/>
          <a:lstStyle/>
          <a:p>
            <a:pPr indent="0" marL="0">
              <a:buNone/>
            </a:pPr>
            <a:r>
              <a:rPr lang="en-US" sz="1450" b="1" dirty="0">
                <a:solidFill>
                  <a:srgbClr val="16233D"/>
                </a:solidFill>
                <a:latin typeface="Calibri" pitchFamily="34" charset="0"/>
                <a:ea typeface="Calibri" pitchFamily="34" charset="-122"/>
                <a:cs typeface="Calibri" pitchFamily="34" charset="-120"/>
              </a:rPr>
              <a:t>Structure-Aware Chunking</a:t>
            </a:r>
            <a:endParaRPr lang="en-US" sz="1450" dirty="0"/>
          </a:p>
        </p:txBody>
      </p:sp>
      <p:sp>
        <p:nvSpPr>
          <p:cNvPr id="8" name="Text 6"/>
          <p:cNvSpPr txBox="1"/>
          <p:nvPr/>
        </p:nvSpPr>
        <p:spPr>
          <a:xfrm>
            <a:off x="5760720" y="1664208"/>
            <a:ext cx="5577840" cy="493776"/>
          </a:xfrm>
          <a:prstGeom prst="rect">
            <a:avLst/>
          </a:prstGeom>
          <a:noFill/>
          <a:ln/>
        </p:spPr>
        <p:txBody>
          <a:bodyPr wrap="square" lIns="0" tIns="0" rIns="0" bIns="0" rtlCol="0" anchor="ctr"/>
          <a:lstStyle/>
          <a:p>
            <a:pPr indent="0" marL="0">
              <a:buNone/>
            </a:pPr>
            <a:r>
              <a:rPr lang="en-US" sz="1200" dirty="0">
                <a:solidFill>
                  <a:srgbClr val="2C3E63"/>
                </a:solidFill>
                <a:latin typeface="Calibri" pitchFamily="34" charset="0"/>
                <a:ea typeface="Calibri" pitchFamily="34" charset="-122"/>
                <a:cs typeface="Calibri" pitchFamily="34" charset="-120"/>
              </a:rPr>
              <a:t>Cắt văn bản theo ranh giới Điều/Khoản, gộp tới 1.800 ký tự</a:t>
            </a:r>
            <a:endParaRPr lang="en-US" sz="1200" dirty="0"/>
          </a:p>
        </p:txBody>
      </p:sp>
      <p:sp>
        <p:nvSpPr>
          <p:cNvPr id="9" name="Shape 7"/>
          <p:cNvSpPr/>
          <p:nvPr/>
        </p:nvSpPr>
        <p:spPr>
          <a:xfrm>
            <a:off x="640080" y="2336292"/>
            <a:ext cx="10881360" cy="713232"/>
          </a:xfrm>
          <a:prstGeom prst="roundRect">
            <a:avLst>
              <a:gd name="adj" fmla="val 7692"/>
            </a:avLst>
          </a:prstGeom>
          <a:solidFill>
            <a:srgbClr val="FFFFFF"/>
          </a:solidFill>
          <a:ln w="9525">
            <a:solidFill>
              <a:srgbClr val="C9D2DF"/>
            </a:solidFill>
            <a:prstDash val="solid"/>
          </a:ln>
        </p:spPr>
      </p:sp>
      <p:sp>
        <p:nvSpPr>
          <p:cNvPr id="10" name="Shape 8"/>
          <p:cNvSpPr/>
          <p:nvPr/>
        </p:nvSpPr>
        <p:spPr>
          <a:xfrm>
            <a:off x="841248" y="2482596"/>
            <a:ext cx="457200" cy="457200"/>
          </a:xfrm>
          <a:prstGeom prst="ellipse">
            <a:avLst/>
          </a:prstGeom>
          <a:solidFill>
            <a:srgbClr val="16233D"/>
          </a:solidFill>
          <a:ln/>
        </p:spPr>
      </p:sp>
      <p:sp>
        <p:nvSpPr>
          <p:cNvPr id="11" name="Text 9"/>
          <p:cNvSpPr txBox="1"/>
          <p:nvPr/>
        </p:nvSpPr>
        <p:spPr>
          <a:xfrm>
            <a:off x="841248" y="2546604"/>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463040" y="2446020"/>
            <a:ext cx="4206240" cy="493776"/>
          </a:xfrm>
          <a:prstGeom prst="rect">
            <a:avLst/>
          </a:prstGeom>
          <a:noFill/>
          <a:ln/>
        </p:spPr>
        <p:txBody>
          <a:bodyPr wrap="square" lIns="0" tIns="0" rIns="0" bIns="0" rtlCol="0" anchor="ctr"/>
          <a:lstStyle/>
          <a:p>
            <a:pPr indent="0" marL="0">
              <a:buNone/>
            </a:pPr>
            <a:r>
              <a:rPr lang="en-US" sz="1450" b="1" dirty="0">
                <a:solidFill>
                  <a:srgbClr val="16233D"/>
                </a:solidFill>
                <a:latin typeface="Calibri" pitchFamily="34" charset="0"/>
                <a:ea typeface="Calibri" pitchFamily="34" charset="-122"/>
                <a:cs typeface="Calibri" pitchFamily="34" charset="-120"/>
              </a:rPr>
              <a:t>Chunk-Level BM25</a:t>
            </a:r>
            <a:endParaRPr lang="en-US" sz="1450" dirty="0"/>
          </a:p>
        </p:txBody>
      </p:sp>
      <p:sp>
        <p:nvSpPr>
          <p:cNvPr id="13" name="Text 11"/>
          <p:cNvSpPr txBox="1"/>
          <p:nvPr/>
        </p:nvSpPr>
        <p:spPr>
          <a:xfrm>
            <a:off x="5760720" y="2446020"/>
            <a:ext cx="5577840" cy="493776"/>
          </a:xfrm>
          <a:prstGeom prst="rect">
            <a:avLst/>
          </a:prstGeom>
          <a:noFill/>
          <a:ln/>
        </p:spPr>
        <p:txBody>
          <a:bodyPr wrap="square" lIns="0" tIns="0" rIns="0" bIns="0" rtlCol="0" anchor="ctr"/>
          <a:lstStyle/>
          <a:p>
            <a:pPr indent="0" marL="0">
              <a:buNone/>
            </a:pPr>
            <a:r>
              <a:rPr lang="en-US" sz="1200" dirty="0">
                <a:solidFill>
                  <a:srgbClr val="2C3E63"/>
                </a:solidFill>
                <a:latin typeface="Calibri" pitchFamily="34" charset="0"/>
                <a:ea typeface="Calibri" pitchFamily="34" charset="-122"/>
                <a:cs typeface="Calibri" pitchFamily="34" charset="-120"/>
              </a:rPr>
              <a:t>Truy hồi thưa ở mức ĐOẠN; điểm văn bản = max điểm đoạn</a:t>
            </a:r>
            <a:endParaRPr lang="en-US" sz="1200" dirty="0"/>
          </a:p>
        </p:txBody>
      </p:sp>
      <p:sp>
        <p:nvSpPr>
          <p:cNvPr id="14" name="Shape 12"/>
          <p:cNvSpPr/>
          <p:nvPr/>
        </p:nvSpPr>
        <p:spPr>
          <a:xfrm>
            <a:off x="640080" y="3118104"/>
            <a:ext cx="10881360" cy="713232"/>
          </a:xfrm>
          <a:prstGeom prst="roundRect">
            <a:avLst>
              <a:gd name="adj" fmla="val 7692"/>
            </a:avLst>
          </a:prstGeom>
          <a:solidFill>
            <a:srgbClr val="FFFFFF"/>
          </a:solidFill>
          <a:ln w="9525">
            <a:solidFill>
              <a:srgbClr val="C9D2DF"/>
            </a:solidFill>
            <a:prstDash val="solid"/>
          </a:ln>
        </p:spPr>
      </p:sp>
      <p:sp>
        <p:nvSpPr>
          <p:cNvPr id="15" name="Shape 13"/>
          <p:cNvSpPr/>
          <p:nvPr/>
        </p:nvSpPr>
        <p:spPr>
          <a:xfrm>
            <a:off x="841248" y="3264408"/>
            <a:ext cx="457200" cy="457200"/>
          </a:xfrm>
          <a:prstGeom prst="ellipse">
            <a:avLst/>
          </a:prstGeom>
          <a:solidFill>
            <a:srgbClr val="16233D"/>
          </a:solidFill>
          <a:ln/>
        </p:spPr>
      </p:sp>
      <p:sp>
        <p:nvSpPr>
          <p:cNvPr id="16" name="Text 14"/>
          <p:cNvSpPr txBox="1"/>
          <p:nvPr/>
        </p:nvSpPr>
        <p:spPr>
          <a:xfrm>
            <a:off x="841248" y="3328416"/>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463040" y="3227832"/>
            <a:ext cx="4206240" cy="493776"/>
          </a:xfrm>
          <a:prstGeom prst="rect">
            <a:avLst/>
          </a:prstGeom>
          <a:noFill/>
          <a:ln/>
        </p:spPr>
        <p:txBody>
          <a:bodyPr wrap="square" lIns="0" tIns="0" rIns="0" bIns="0" rtlCol="0" anchor="ctr"/>
          <a:lstStyle/>
          <a:p>
            <a:pPr indent="0" marL="0">
              <a:buNone/>
            </a:pPr>
            <a:r>
              <a:rPr lang="en-US" sz="1450" b="1" dirty="0">
                <a:solidFill>
                  <a:srgbClr val="16233D"/>
                </a:solidFill>
                <a:latin typeface="Calibri" pitchFamily="34" charset="0"/>
                <a:ea typeface="Calibri" pitchFamily="34" charset="-122"/>
                <a:cs typeface="Calibri" pitchFamily="34" charset="-120"/>
              </a:rPr>
              <a:t>Dense Bi-Encoder Retrieval</a:t>
            </a:r>
            <a:endParaRPr lang="en-US" sz="1450" dirty="0"/>
          </a:p>
        </p:txBody>
      </p:sp>
      <p:sp>
        <p:nvSpPr>
          <p:cNvPr id="18" name="Text 16"/>
          <p:cNvSpPr txBox="1"/>
          <p:nvPr/>
        </p:nvSpPr>
        <p:spPr>
          <a:xfrm>
            <a:off x="5760720" y="3227832"/>
            <a:ext cx="5577840" cy="493776"/>
          </a:xfrm>
          <a:prstGeom prst="rect">
            <a:avLst/>
          </a:prstGeom>
          <a:noFill/>
          <a:ln/>
        </p:spPr>
        <p:txBody>
          <a:bodyPr wrap="square" lIns="0" tIns="0" rIns="0" bIns="0" rtlCol="0" anchor="ctr"/>
          <a:lstStyle/>
          <a:p>
            <a:pPr indent="0" marL="0">
              <a:buNone/>
            </a:pPr>
            <a:r>
              <a:rPr lang="en-US" sz="1200" dirty="0">
                <a:solidFill>
                  <a:srgbClr val="2C3E63"/>
                </a:solidFill>
                <a:latin typeface="Calibri" pitchFamily="34" charset="0"/>
                <a:ea typeface="Calibri" pitchFamily="34" charset="-122"/>
                <a:cs typeface="Calibri" pitchFamily="34" charset="-120"/>
              </a:rPr>
              <a:t>Truy hồi dày đặc — Vietnamese_Embedding, nền bge-m3</a:t>
            </a:r>
            <a:endParaRPr lang="en-US" sz="1200" dirty="0"/>
          </a:p>
        </p:txBody>
      </p:sp>
      <p:sp>
        <p:nvSpPr>
          <p:cNvPr id="19" name="Shape 17"/>
          <p:cNvSpPr/>
          <p:nvPr/>
        </p:nvSpPr>
        <p:spPr>
          <a:xfrm>
            <a:off x="640080" y="3899916"/>
            <a:ext cx="10881360" cy="713232"/>
          </a:xfrm>
          <a:prstGeom prst="roundRect">
            <a:avLst>
              <a:gd name="adj" fmla="val 7692"/>
            </a:avLst>
          </a:prstGeom>
          <a:solidFill>
            <a:srgbClr val="FFFFFF"/>
          </a:solidFill>
          <a:ln w="9525">
            <a:solidFill>
              <a:srgbClr val="C9D2DF"/>
            </a:solidFill>
            <a:prstDash val="solid"/>
          </a:ln>
        </p:spPr>
      </p:sp>
      <p:sp>
        <p:nvSpPr>
          <p:cNvPr id="20" name="Shape 18"/>
          <p:cNvSpPr/>
          <p:nvPr/>
        </p:nvSpPr>
        <p:spPr>
          <a:xfrm>
            <a:off x="841248" y="4046220"/>
            <a:ext cx="457200" cy="457200"/>
          </a:xfrm>
          <a:prstGeom prst="ellipse">
            <a:avLst/>
          </a:prstGeom>
          <a:solidFill>
            <a:srgbClr val="16233D"/>
          </a:solidFill>
          <a:ln/>
        </p:spPr>
      </p:sp>
      <p:sp>
        <p:nvSpPr>
          <p:cNvPr id="21" name="Text 19"/>
          <p:cNvSpPr txBox="1"/>
          <p:nvPr/>
        </p:nvSpPr>
        <p:spPr>
          <a:xfrm>
            <a:off x="841248" y="4110228"/>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463040" y="4009644"/>
            <a:ext cx="4206240" cy="493776"/>
          </a:xfrm>
          <a:prstGeom prst="rect">
            <a:avLst/>
          </a:prstGeom>
          <a:noFill/>
          <a:ln/>
        </p:spPr>
        <p:txBody>
          <a:bodyPr wrap="square" lIns="0" tIns="0" rIns="0" bIns="0" rtlCol="0" anchor="ctr"/>
          <a:lstStyle/>
          <a:p>
            <a:pPr indent="0" marL="0">
              <a:buNone/>
            </a:pPr>
            <a:r>
              <a:rPr lang="en-US" sz="1450" b="1" dirty="0">
                <a:solidFill>
                  <a:srgbClr val="16233D"/>
                </a:solidFill>
                <a:latin typeface="Calibri" pitchFamily="34" charset="0"/>
                <a:ea typeface="Calibri" pitchFamily="34" charset="-122"/>
                <a:cs typeface="Calibri" pitchFamily="34" charset="-120"/>
              </a:rPr>
              <a:t>Reciprocal Rank Fusion</a:t>
            </a:r>
            <a:endParaRPr lang="en-US" sz="1450" dirty="0"/>
          </a:p>
        </p:txBody>
      </p:sp>
      <p:sp>
        <p:nvSpPr>
          <p:cNvPr id="23" name="Text 21"/>
          <p:cNvSpPr txBox="1"/>
          <p:nvPr/>
        </p:nvSpPr>
        <p:spPr>
          <a:xfrm>
            <a:off x="5760720" y="4009644"/>
            <a:ext cx="5577840" cy="493776"/>
          </a:xfrm>
          <a:prstGeom prst="rect">
            <a:avLst/>
          </a:prstGeom>
          <a:noFill/>
          <a:ln/>
        </p:spPr>
        <p:txBody>
          <a:bodyPr wrap="square" lIns="0" tIns="0" rIns="0" bIns="0" rtlCol="0" anchor="ctr"/>
          <a:lstStyle/>
          <a:p>
            <a:pPr indent="0" marL="0">
              <a:buNone/>
            </a:pPr>
            <a:r>
              <a:rPr lang="en-US" sz="1200" dirty="0">
                <a:solidFill>
                  <a:srgbClr val="2C3E63"/>
                </a:solidFill>
                <a:latin typeface="Calibri" pitchFamily="34" charset="0"/>
                <a:ea typeface="Calibri" pitchFamily="34" charset="-122"/>
                <a:cs typeface="Calibri" pitchFamily="34" charset="-120"/>
              </a:rPr>
              <a:t>Hoà hai thứ hạng thành rổ 50 văn bản/câu + 3 đoạn tốt nhất mỗi văn bản</a:t>
            </a:r>
            <a:endParaRPr lang="en-US" sz="1200" dirty="0"/>
          </a:p>
        </p:txBody>
      </p:sp>
      <p:sp>
        <p:nvSpPr>
          <p:cNvPr id="24" name="Shape 22"/>
          <p:cNvSpPr/>
          <p:nvPr/>
        </p:nvSpPr>
        <p:spPr>
          <a:xfrm>
            <a:off x="640080" y="4681728"/>
            <a:ext cx="10881360" cy="713232"/>
          </a:xfrm>
          <a:prstGeom prst="roundRect">
            <a:avLst>
              <a:gd name="adj" fmla="val 7692"/>
            </a:avLst>
          </a:prstGeom>
          <a:solidFill>
            <a:srgbClr val="EEF1F6"/>
          </a:solidFill>
          <a:ln w="9525">
            <a:solidFill>
              <a:srgbClr val="C9D2DF"/>
            </a:solidFill>
            <a:prstDash val="solid"/>
          </a:ln>
        </p:spPr>
      </p:sp>
      <p:sp>
        <p:nvSpPr>
          <p:cNvPr id="25" name="Shape 23"/>
          <p:cNvSpPr/>
          <p:nvPr/>
        </p:nvSpPr>
        <p:spPr>
          <a:xfrm>
            <a:off x="841248" y="4828032"/>
            <a:ext cx="457200" cy="457200"/>
          </a:xfrm>
          <a:prstGeom prst="ellipse">
            <a:avLst/>
          </a:prstGeom>
          <a:solidFill>
            <a:srgbClr val="A6202B"/>
          </a:solidFill>
          <a:ln/>
        </p:spPr>
      </p:sp>
      <p:sp>
        <p:nvSpPr>
          <p:cNvPr id="26" name="Text 24"/>
          <p:cNvSpPr txBox="1"/>
          <p:nvPr/>
        </p:nvSpPr>
        <p:spPr>
          <a:xfrm>
            <a:off x="841248" y="4892040"/>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1463040" y="4791456"/>
            <a:ext cx="4206240" cy="493776"/>
          </a:xfrm>
          <a:prstGeom prst="rect">
            <a:avLst/>
          </a:prstGeom>
          <a:noFill/>
          <a:ln/>
        </p:spPr>
        <p:txBody>
          <a:bodyPr wrap="square" lIns="0" tIns="0" rIns="0" bIns="0" rtlCol="0" anchor="ctr"/>
          <a:lstStyle/>
          <a:p>
            <a:pPr indent="0" marL="0">
              <a:buNone/>
            </a:pPr>
            <a:r>
              <a:rPr lang="en-US" sz="1450" b="1" dirty="0">
                <a:solidFill>
                  <a:srgbClr val="A6202B"/>
                </a:solidFill>
                <a:latin typeface="Calibri" pitchFamily="34" charset="0"/>
                <a:ea typeface="Calibri" pitchFamily="34" charset="-122"/>
                <a:cs typeface="Calibri" pitchFamily="34" charset="-120"/>
              </a:rPr>
              <a:t>Cross-Encoder Reranking + MaxP</a:t>
            </a:r>
            <a:endParaRPr lang="en-US" sz="1450" dirty="0"/>
          </a:p>
        </p:txBody>
      </p:sp>
      <p:sp>
        <p:nvSpPr>
          <p:cNvPr id="28" name="Text 26"/>
          <p:cNvSpPr txBox="1"/>
          <p:nvPr/>
        </p:nvSpPr>
        <p:spPr>
          <a:xfrm>
            <a:off x="5760720" y="4791456"/>
            <a:ext cx="5577840" cy="493776"/>
          </a:xfrm>
          <a:prstGeom prst="rect">
            <a:avLst/>
          </a:prstGeom>
          <a:noFill/>
          <a:ln/>
        </p:spPr>
        <p:txBody>
          <a:bodyPr wrap="square" lIns="0" tIns="0" rIns="0" bIns="0" rtlCol="0" anchor="ctr"/>
          <a:lstStyle/>
          <a:p>
            <a:pPr indent="0" marL="0">
              <a:buNone/>
            </a:pPr>
            <a:r>
              <a:rPr lang="en-US" sz="1200" dirty="0">
                <a:solidFill>
                  <a:srgbClr val="2C3E63"/>
                </a:solidFill>
                <a:latin typeface="Calibri" pitchFamily="34" charset="0"/>
                <a:ea typeface="Calibri" pitchFamily="34" charset="-122"/>
                <a:cs typeface="Calibri" pitchFamily="34" charset="-120"/>
              </a:rPr>
              <a:t>Chấm lại 50 ứng viên; 20 văn bản đầu được đọc sâu 50 đoạn, lấy điểm cao nhất</a:t>
            </a:r>
            <a:endParaRPr lang="en-US" sz="1200" dirty="0"/>
          </a:p>
        </p:txBody>
      </p:sp>
      <p:sp>
        <p:nvSpPr>
          <p:cNvPr id="29" name="Shape 27"/>
          <p:cNvSpPr/>
          <p:nvPr/>
        </p:nvSpPr>
        <p:spPr>
          <a:xfrm>
            <a:off x="640080" y="5463540"/>
            <a:ext cx="10881360" cy="713232"/>
          </a:xfrm>
          <a:prstGeom prst="roundRect">
            <a:avLst>
              <a:gd name="adj" fmla="val 7692"/>
            </a:avLst>
          </a:prstGeom>
          <a:solidFill>
            <a:srgbClr val="EEF1F6"/>
          </a:solidFill>
          <a:ln w="9525">
            <a:solidFill>
              <a:srgbClr val="C9D2DF"/>
            </a:solidFill>
            <a:prstDash val="solid"/>
          </a:ln>
        </p:spPr>
      </p:sp>
      <p:sp>
        <p:nvSpPr>
          <p:cNvPr id="30" name="Shape 28"/>
          <p:cNvSpPr/>
          <p:nvPr/>
        </p:nvSpPr>
        <p:spPr>
          <a:xfrm>
            <a:off x="841248" y="5609844"/>
            <a:ext cx="457200" cy="457200"/>
          </a:xfrm>
          <a:prstGeom prst="ellipse">
            <a:avLst/>
          </a:prstGeom>
          <a:solidFill>
            <a:srgbClr val="A6202B"/>
          </a:solidFill>
          <a:ln/>
        </p:spPr>
      </p:sp>
      <p:sp>
        <p:nvSpPr>
          <p:cNvPr id="31" name="Text 29"/>
          <p:cNvSpPr txBox="1"/>
          <p:nvPr/>
        </p:nvSpPr>
        <p:spPr>
          <a:xfrm>
            <a:off x="841248" y="5673852"/>
            <a:ext cx="4572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txBox="1"/>
          <p:nvPr/>
        </p:nvSpPr>
        <p:spPr>
          <a:xfrm>
            <a:off x="1463040" y="5573268"/>
            <a:ext cx="4206240" cy="493776"/>
          </a:xfrm>
          <a:prstGeom prst="rect">
            <a:avLst/>
          </a:prstGeom>
          <a:noFill/>
          <a:ln/>
        </p:spPr>
        <p:txBody>
          <a:bodyPr wrap="square" lIns="0" tIns="0" rIns="0" bIns="0" rtlCol="0" anchor="ctr"/>
          <a:lstStyle/>
          <a:p>
            <a:pPr indent="0" marL="0">
              <a:buNone/>
            </a:pPr>
            <a:r>
              <a:rPr lang="en-US" sz="1450" b="1" dirty="0">
                <a:solidFill>
                  <a:srgbClr val="A6202B"/>
                </a:solidFill>
                <a:latin typeface="Calibri" pitchFamily="34" charset="0"/>
                <a:ea typeface="Calibri" pitchFamily="34" charset="-122"/>
                <a:cs typeface="Calibri" pitchFamily="34" charset="-120"/>
              </a:rPr>
              <a:t>Slot-Reservation Blending</a:t>
            </a:r>
            <a:endParaRPr lang="en-US" sz="1450" dirty="0"/>
          </a:p>
        </p:txBody>
      </p:sp>
      <p:sp>
        <p:nvSpPr>
          <p:cNvPr id="33" name="Text 31"/>
          <p:cNvSpPr txBox="1"/>
          <p:nvPr/>
        </p:nvSpPr>
        <p:spPr>
          <a:xfrm>
            <a:off x="5760720" y="5573268"/>
            <a:ext cx="5577840" cy="493776"/>
          </a:xfrm>
          <a:prstGeom prst="rect">
            <a:avLst/>
          </a:prstGeom>
          <a:noFill/>
          <a:ln/>
        </p:spPr>
        <p:txBody>
          <a:bodyPr wrap="square" lIns="0" tIns="0" rIns="0" bIns="0" rtlCol="0" anchor="ctr"/>
          <a:lstStyle/>
          <a:p>
            <a:pPr indent="0" marL="0">
              <a:buNone/>
            </a:pPr>
            <a:r>
              <a:rPr lang="en-US" sz="1200" dirty="0">
                <a:solidFill>
                  <a:srgbClr val="2C3E63"/>
                </a:solidFill>
                <a:latin typeface="Calibri" pitchFamily="34" charset="0"/>
                <a:ea typeface="Calibri" pitchFamily="34" charset="-122"/>
                <a:cs typeface="Calibri" pitchFamily="34" charset="-120"/>
              </a:rPr>
              <a:t>Chốt top-5: giữ 2 slot đầu theo thứ tự rổ, 3 slot sau theo bộ chấm</a:t>
            </a:r>
            <a:endParaRPr lang="en-US" sz="1200" dirty="0"/>
          </a:p>
        </p:txBody>
      </p:sp>
      <p:sp>
        <p:nvSpPr>
          <p:cNvPr id="34" name="Text 32"/>
          <p:cNvSpPr txBox="1"/>
          <p:nvPr/>
        </p:nvSpPr>
        <p:spPr>
          <a:xfrm>
            <a:off x="640080" y="6327648"/>
            <a:ext cx="10881360" cy="292608"/>
          </a:xfrm>
          <a:prstGeom prst="rect">
            <a:avLst/>
          </a:prstGeom>
          <a:noFill/>
          <a:ln/>
        </p:spPr>
        <p:txBody>
          <a:bodyPr wrap="square" lIns="0" tIns="0" rIns="0" bIns="0" rtlCol="0" anchor="ctr"/>
          <a:lstStyle/>
          <a:p>
            <a:pPr indent="0" marL="0">
              <a:buNone/>
            </a:pPr>
            <a:r>
              <a:rPr lang="en-US" sz="1200" i="1" dirty="0">
                <a:solidFill>
                  <a:srgbClr val="60708A"/>
                </a:solidFill>
                <a:latin typeface="Calibri" pitchFamily="34" charset="0"/>
                <a:ea typeface="Calibri" pitchFamily="34" charset="-122"/>
                <a:cs typeface="Calibri" pitchFamily="34" charset="-120"/>
              </a:rPr>
              <a:t>Bước 1–4 = TRUY HỒI (sinh ứng viên)   ·   Bước 5–6 = XẾP HẠNG (chốt đáp án)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A6202B"/>
                </a:solidFill>
                <a:latin typeface="Calibri" pitchFamily="34" charset="0"/>
                <a:ea typeface="Calibri" pitchFamily="34" charset="-122"/>
                <a:cs typeface="Calibri" pitchFamily="34" charset="-120"/>
              </a:rPr>
              <a:t>KẾT QUẢ</a:t>
            </a:r>
            <a:endParaRPr lang="en-US" sz="12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6233D"/>
                </a:solidFill>
                <a:latin typeface="Times New Roman" pitchFamily="34" charset="0"/>
                <a:ea typeface="Times New Roman" pitchFamily="34" charset="-122"/>
                <a:cs typeface="Times New Roman" pitchFamily="34" charset="-120"/>
              </a:rPr>
              <a:t>Từ 0.8350 lên 0.9124 — từng bước một</a:t>
            </a:r>
            <a:endParaRPr lang="en-US" sz="3400" dirty="0"/>
          </a:p>
        </p:txBody>
      </p:sp>
      <p:graphicFrame>
        <p:nvGraphicFramePr>
          <p:cNvPr id="4" name="Chart 0" descr=""/>
          <p:cNvGraphicFramePr/>
          <p:nvPr/>
        </p:nvGraphicFramePr>
        <p:xfrm>
          <a:off x="640080" y="160020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600200"/>
            <a:ext cx="3840480" cy="2240280"/>
          </a:xfrm>
          <a:prstGeom prst="roundRect">
            <a:avLst>
              <a:gd name="adj" fmla="val 3265"/>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6" name="Text 3"/>
          <p:cNvSpPr txBox="1"/>
          <p:nvPr/>
        </p:nvSpPr>
        <p:spPr>
          <a:xfrm>
            <a:off x="7918704" y="1783080"/>
            <a:ext cx="338328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Hai đòn lớn nhất</a:t>
            </a:r>
            <a:endParaRPr lang="en-US" sz="1500" dirty="0"/>
          </a:p>
        </p:txBody>
      </p:sp>
      <p:sp>
        <p:nvSpPr>
          <p:cNvPr id="7" name="Text 4"/>
          <p:cNvSpPr txBox="1"/>
          <p:nvPr/>
        </p:nvSpPr>
        <p:spPr>
          <a:xfrm>
            <a:off x="7918704" y="2203704"/>
            <a:ext cx="3383280" cy="145389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MaxP aggregation  +2,67 điểm</a:t>
            </a:r>
            <a:endParaRPr lang="en-US" sz="1250" dirty="0"/>
          </a:p>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RRF hybrid retrieval  +1,92 điểm</a:t>
            </a:r>
            <a:endParaRPr lang="en-US" sz="1250" dirty="0"/>
          </a:p>
          <a:p>
            <a:pPr indent="0" marL="0">
              <a:lnSpc>
                <a:spcPts val="1700"/>
              </a:lnSpc>
              <a:buNone/>
            </a:pPr>
            <a:endParaRPr lang="en-US" sz="1250" dirty="0"/>
          </a:p>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Cả hai đều là ĐỔI THỨ NẠP VÀO, không phải tinh chỉnh cái đang có.</a:t>
            </a:r>
            <a:endParaRPr lang="en-US" sz="1250" dirty="0"/>
          </a:p>
        </p:txBody>
      </p:sp>
      <p:sp>
        <p:nvSpPr>
          <p:cNvPr id="8" name="Shape 5"/>
          <p:cNvSpPr/>
          <p:nvPr/>
        </p:nvSpPr>
        <p:spPr>
          <a:xfrm>
            <a:off x="7680960" y="4023360"/>
            <a:ext cx="3840480" cy="2331720"/>
          </a:xfrm>
          <a:prstGeom prst="roundRect">
            <a:avLst>
              <a:gd name="adj" fmla="val 3137"/>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9" name="Text 6"/>
          <p:cNvSpPr txBox="1"/>
          <p:nvPr/>
        </p:nvSpPr>
        <p:spPr>
          <a:xfrm>
            <a:off x="7918704" y="4206240"/>
            <a:ext cx="3383280" cy="384048"/>
          </a:xfrm>
          <a:prstGeom prst="rect">
            <a:avLst/>
          </a:prstGeom>
          <a:noFill/>
          <a:ln/>
        </p:spPr>
        <p:txBody>
          <a:bodyPr wrap="square" lIns="0" tIns="0" rIns="0" bIns="0" rtlCol="0" anchor="ctr"/>
          <a:lstStyle/>
          <a:p>
            <a:pPr indent="0" marL="0">
              <a:buNone/>
            </a:pPr>
            <a:r>
              <a:rPr lang="en-US" sz="1500" b="1" dirty="0">
                <a:solidFill>
                  <a:srgbClr val="16233D"/>
                </a:solidFill>
                <a:latin typeface="Calibri" pitchFamily="34" charset="0"/>
                <a:ea typeface="Calibri" pitchFamily="34" charset="-122"/>
                <a:cs typeface="Calibri" pitchFamily="34" charset="-120"/>
              </a:rPr>
              <a:t>Tổng của mọi lần vặn tham số</a:t>
            </a:r>
            <a:endParaRPr lang="en-US" sz="1500" dirty="0"/>
          </a:p>
        </p:txBody>
      </p:sp>
      <p:sp>
        <p:nvSpPr>
          <p:cNvPr id="10" name="Text 7"/>
          <p:cNvSpPr txBox="1"/>
          <p:nvPr/>
        </p:nvSpPr>
        <p:spPr>
          <a:xfrm>
            <a:off x="7918704" y="4626864"/>
            <a:ext cx="3383280" cy="154533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nhỏ hơn một mình đòn đọc sâu.</a:t>
            </a:r>
            <a:endParaRPr lang="en-US" sz="1250" dirty="0"/>
          </a:p>
          <a:p>
            <a:pPr indent="0" marL="0">
              <a:lnSpc>
                <a:spcPts val="1700"/>
              </a:lnSpc>
              <a:buNone/>
            </a:pPr>
            <a:endParaRPr lang="en-US" sz="1250" dirty="0"/>
          </a:p>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Đây là bài học quan trọng nhất của cả dự án: nên đổi kiến trúc trước, vặn số sau.</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A6202B"/>
                </a:solidFill>
                <a:latin typeface="Calibri" pitchFamily="34" charset="0"/>
                <a:ea typeface="Calibri" pitchFamily="34" charset="-122"/>
                <a:cs typeface="Calibri" pitchFamily="34" charset="-120"/>
              </a:rPr>
              <a:t>ĐÒN THỨ NHẤT</a:t>
            </a:r>
            <a:endParaRPr lang="en-US" sz="12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6233D"/>
                </a:solidFill>
                <a:latin typeface="Times New Roman" pitchFamily="34" charset="0"/>
                <a:ea typeface="Times New Roman" pitchFamily="34" charset="-122"/>
                <a:cs typeface="Times New Roman" pitchFamily="34" charset="-120"/>
              </a:rPr>
              <a:t>Hybrid Retrieval + Reciprocal Rank Fusion</a:t>
            </a:r>
            <a:endParaRPr lang="en-US" sz="3400" dirty="0"/>
          </a:p>
        </p:txBody>
      </p:sp>
      <p:sp>
        <p:nvSpPr>
          <p:cNvPr id="4" name="Text 2"/>
          <p:cNvSpPr txBox="1"/>
          <p:nvPr/>
        </p:nvSpPr>
        <p:spPr>
          <a:xfrm>
            <a:off x="640080" y="1572768"/>
            <a:ext cx="10881360" cy="384048"/>
          </a:xfrm>
          <a:prstGeom prst="rect">
            <a:avLst/>
          </a:prstGeom>
          <a:noFill/>
          <a:ln/>
        </p:spPr>
        <p:txBody>
          <a:bodyPr wrap="square" lIns="0" tIns="0" rIns="0" bIns="0" rtlCol="0" anchor="ctr"/>
          <a:lstStyle/>
          <a:p>
            <a:pPr indent="0" marL="0">
              <a:buNone/>
            </a:pPr>
            <a:r>
              <a:rPr lang="en-US" sz="1450" dirty="0">
                <a:solidFill>
                  <a:srgbClr val="2C3E63"/>
                </a:solidFill>
                <a:latin typeface="Calibri" pitchFamily="34" charset="0"/>
                <a:ea typeface="Calibri" pitchFamily="34" charset="-122"/>
                <a:cs typeface="Calibri" pitchFamily="34" charset="-120"/>
              </a:rPr>
              <a:t>Hoà THỨ HẠNG của hai hệ truy hồi, không hoà điểm — nên không cần chuẩn hoá hai thang không so được với nhau.</a:t>
            </a:r>
            <a:endParaRPr lang="en-US" sz="1450" dirty="0"/>
          </a:p>
        </p:txBody>
      </p:sp>
      <p:sp>
        <p:nvSpPr>
          <p:cNvPr id="5" name="Shape 3"/>
          <p:cNvSpPr/>
          <p:nvPr/>
        </p:nvSpPr>
        <p:spPr>
          <a:xfrm>
            <a:off x="640080" y="2103120"/>
            <a:ext cx="10881360" cy="685800"/>
          </a:xfrm>
          <a:prstGeom prst="roundRect">
            <a:avLst>
              <a:gd name="adj" fmla="val 8000"/>
            </a:avLst>
          </a:prstGeom>
          <a:solidFill>
            <a:srgbClr val="16233D"/>
          </a:solidFill>
          <a:ln/>
        </p:spPr>
      </p:sp>
      <p:sp>
        <p:nvSpPr>
          <p:cNvPr id="6" name="Text 4"/>
          <p:cNvSpPr txBox="1"/>
          <p:nvPr/>
        </p:nvSpPr>
        <p:spPr>
          <a:xfrm>
            <a:off x="640080" y="2286000"/>
            <a:ext cx="108813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Times New Roman" pitchFamily="34" charset="0"/>
                <a:ea typeface="Times New Roman" pitchFamily="34" charset="-122"/>
                <a:cs typeface="Times New Roman" pitchFamily="34" charset="-120"/>
              </a:rPr>
              <a:t>rrf_score(văn bản)  =  Σ  1 / ( k + hạng của văn bản trong danh sách i )</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3063240"/>
          <a:ext cx="10881360" cy="914400"/>
        </p:xfrm>
        <a:graphic>
          <a:graphicData uri="http://schemas.openxmlformats.org/drawingml/2006/table">
            <a:tbl>
              <a:tblPr/>
              <a:tblGrid>
                <a:gridCol w="3291840"/>
                <a:gridCol w="2651760"/>
                <a:gridCol w="3108960"/>
                <a:gridCol w="182880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Chỉ số trên dev300</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BM25 top-100</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Hybrid + RRF top-50</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Δ</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r>
              <a:tr h="384048">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recall@1</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0,4450</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b="1" dirty="0">
                          <a:solidFill>
                            <a:srgbClr val="16233D"/>
                          </a:solidFill>
                          <a:latin typeface="Calibri" pitchFamily="34" charset="0"/>
                          <a:ea typeface="Calibri" pitchFamily="34" charset="-122"/>
                          <a:cs typeface="Calibri" pitchFamily="34" charset="-120"/>
                        </a:rPr>
                        <a:t>0,5783</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b="1" dirty="0">
                          <a:solidFill>
                            <a:srgbClr val="2E6A5A"/>
                          </a:solidFill>
                          <a:latin typeface="Calibri" pitchFamily="34" charset="0"/>
                          <a:ea typeface="Calibri" pitchFamily="34" charset="-122"/>
                          <a:cs typeface="Calibri" pitchFamily="34" charset="-120"/>
                        </a:rPr>
                        <a:t>+13,33</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384048">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recall@5</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0,7533</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b="1" dirty="0">
                          <a:solidFill>
                            <a:srgbClr val="16233D"/>
                          </a:solidFill>
                          <a:latin typeface="Calibri" pitchFamily="34" charset="0"/>
                          <a:ea typeface="Calibri" pitchFamily="34" charset="-122"/>
                          <a:cs typeface="Calibri" pitchFamily="34" charset="-120"/>
                        </a:rPr>
                        <a:t>0,8733</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b="1" dirty="0">
                          <a:solidFill>
                            <a:srgbClr val="2E6A5A"/>
                          </a:solidFill>
                          <a:latin typeface="Calibri" pitchFamily="34" charset="0"/>
                          <a:ea typeface="Calibri" pitchFamily="34" charset="-122"/>
                          <a:cs typeface="Calibri" pitchFamily="34" charset="-120"/>
                        </a:rPr>
                        <a:t>+12,00</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384048">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trần của rổ</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0,9783  (100 văn bản)</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b="1" dirty="0">
                          <a:solidFill>
                            <a:srgbClr val="16233D"/>
                          </a:solidFill>
                          <a:latin typeface="Calibri" pitchFamily="34" charset="0"/>
                          <a:ea typeface="Calibri" pitchFamily="34" charset="-122"/>
                          <a:cs typeface="Calibri" pitchFamily="34" charset="-120"/>
                        </a:rPr>
                        <a:t>0,9817  (50 văn bản)</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b="1" dirty="0">
                          <a:solidFill>
                            <a:srgbClr val="2E6A5A"/>
                          </a:solidFill>
                          <a:latin typeface="Calibri" pitchFamily="34" charset="0"/>
                          <a:ea typeface="Calibri" pitchFamily="34" charset="-122"/>
                          <a:cs typeface="Calibri" pitchFamily="34" charset="-120"/>
                        </a:rPr>
                        <a:t>+0,34</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bl>
          </a:graphicData>
        </a:graphic>
      </p:graphicFrame>
      <p:sp>
        <p:nvSpPr>
          <p:cNvPr id="8" name="Shape 5"/>
          <p:cNvSpPr/>
          <p:nvPr/>
        </p:nvSpPr>
        <p:spPr>
          <a:xfrm>
            <a:off x="640080" y="4892040"/>
            <a:ext cx="5349240" cy="1463040"/>
          </a:xfrm>
          <a:prstGeom prst="roundRect">
            <a:avLst>
              <a:gd name="adj" fmla="val 5000"/>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9" name="Text 6"/>
          <p:cNvSpPr txBox="1"/>
          <p:nvPr/>
        </p:nvSpPr>
        <p:spPr>
          <a:xfrm>
            <a:off x="877824" y="5074920"/>
            <a:ext cx="4892040" cy="384048"/>
          </a:xfrm>
          <a:prstGeom prst="rect">
            <a:avLst/>
          </a:prstGeom>
          <a:noFill/>
          <a:ln/>
        </p:spPr>
        <p:txBody>
          <a:bodyPr wrap="square" lIns="0" tIns="0" rIns="0" bIns="0" rtlCol="0" anchor="ctr"/>
          <a:lstStyle/>
          <a:p>
            <a:pPr indent="0" marL="0">
              <a:buNone/>
            </a:pPr>
            <a:r>
              <a:rPr lang="en-US" sz="1500" b="1" dirty="0">
                <a:solidFill>
                  <a:srgbClr val="2E6A5A"/>
                </a:solidFill>
                <a:latin typeface="Calibri" pitchFamily="34" charset="0"/>
                <a:ea typeface="Calibri" pitchFamily="34" charset="-122"/>
                <a:cs typeface="Calibri" pitchFamily="34" charset="-120"/>
              </a:rPr>
              <a:t>Vừa tốt hơn vừa rẻ hơn</a:t>
            </a:r>
            <a:endParaRPr lang="en-US" sz="1500" dirty="0"/>
          </a:p>
        </p:txBody>
      </p:sp>
      <p:sp>
        <p:nvSpPr>
          <p:cNvPr id="10" name="Text 7"/>
          <p:cNvSpPr txBox="1"/>
          <p:nvPr/>
        </p:nvSpPr>
        <p:spPr>
          <a:xfrm>
            <a:off x="877824" y="5495544"/>
            <a:ext cx="4892040" cy="67665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Trần dâng lên trong khi số văn bản tầng sau phải chấm giảm một nửa. Loại cải tiến hiếm gặp.</a:t>
            </a:r>
            <a:endParaRPr lang="en-US" sz="1250" dirty="0"/>
          </a:p>
        </p:txBody>
      </p:sp>
      <p:sp>
        <p:nvSpPr>
          <p:cNvPr id="11" name="Shape 8"/>
          <p:cNvSpPr/>
          <p:nvPr/>
        </p:nvSpPr>
        <p:spPr>
          <a:xfrm>
            <a:off x="6172200" y="4892040"/>
            <a:ext cx="5349240" cy="1463040"/>
          </a:xfrm>
          <a:prstGeom prst="roundRect">
            <a:avLst>
              <a:gd name="adj" fmla="val 5000"/>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12" name="Text 9"/>
          <p:cNvSpPr txBox="1"/>
          <p:nvPr/>
        </p:nvSpPr>
        <p:spPr>
          <a:xfrm>
            <a:off x="6409944" y="5074920"/>
            <a:ext cx="4892040" cy="384048"/>
          </a:xfrm>
          <a:prstGeom prst="rect">
            <a:avLst/>
          </a:prstGeom>
          <a:noFill/>
          <a:ln/>
        </p:spPr>
        <p:txBody>
          <a:bodyPr wrap="square" lIns="0" tIns="0" rIns="0" bIns="0" rtlCol="0" anchor="ctr"/>
          <a:lstStyle/>
          <a:p>
            <a:pPr indent="0" marL="0">
              <a:buNone/>
            </a:pPr>
            <a:r>
              <a:rPr lang="en-US" sz="1500" b="1" dirty="0">
                <a:solidFill>
                  <a:srgbClr val="16233D"/>
                </a:solidFill>
                <a:latin typeface="Calibri" pitchFamily="34" charset="0"/>
                <a:ea typeface="Calibri" pitchFamily="34" charset="-122"/>
                <a:cs typeface="Calibri" pitchFamily="34" charset="-120"/>
              </a:rPr>
              <a:t>Vì sao ăn</a:t>
            </a:r>
            <a:endParaRPr lang="en-US" sz="1500" dirty="0"/>
          </a:p>
        </p:txBody>
      </p:sp>
      <p:sp>
        <p:nvSpPr>
          <p:cNvPr id="13" name="Text 10"/>
          <p:cNvSpPr txBox="1"/>
          <p:nvPr/>
        </p:nvSpPr>
        <p:spPr>
          <a:xfrm>
            <a:off x="6409944" y="5495544"/>
            <a:ext cx="4892040" cy="67665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BM25 và dense sai lệch nhau — chỗ này bù được cho chỗ kia. Public LB: +1,92 điểm.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A6202B"/>
                </a:solidFill>
                <a:latin typeface="Calibri" pitchFamily="34" charset="0"/>
                <a:ea typeface="Calibri" pitchFamily="34" charset="-122"/>
                <a:cs typeface="Calibri" pitchFamily="34" charset="-120"/>
              </a:rPr>
              <a:t>ĐÒN THỨ HAI</a:t>
            </a:r>
            <a:endParaRPr lang="en-US" sz="12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6233D"/>
                </a:solidFill>
                <a:latin typeface="Times New Roman" pitchFamily="34" charset="0"/>
                <a:ea typeface="Times New Roman" pitchFamily="34" charset="-122"/>
                <a:cs typeface="Times New Roman" pitchFamily="34" charset="-120"/>
              </a:rPr>
              <a:t>MaxP Aggregation — đọc sâu nhiều đoạn</a:t>
            </a:r>
            <a:endParaRPr lang="en-US" sz="3400" dirty="0"/>
          </a:p>
        </p:txBody>
      </p:sp>
      <p:sp>
        <p:nvSpPr>
          <p:cNvPr id="4" name="Text 2"/>
          <p:cNvSpPr txBox="1"/>
          <p:nvPr/>
        </p:nvSpPr>
        <p:spPr>
          <a:xfrm>
            <a:off x="640080" y="1572768"/>
            <a:ext cx="10881360" cy="384048"/>
          </a:xfrm>
          <a:prstGeom prst="rect">
            <a:avLst/>
          </a:prstGeom>
          <a:noFill/>
          <a:ln/>
        </p:spPr>
        <p:txBody>
          <a:bodyPr wrap="square" lIns="0" tIns="0" rIns="0" bIns="0" rtlCol="0" anchor="ctr"/>
          <a:lstStyle/>
          <a:p>
            <a:pPr indent="0" marL="0">
              <a:buNone/>
            </a:pPr>
            <a:r>
              <a:rPr lang="en-US" sz="1450" dirty="0">
                <a:solidFill>
                  <a:srgbClr val="2C3E63"/>
                </a:solidFill>
                <a:latin typeface="Calibri" pitchFamily="34" charset="0"/>
                <a:ea typeface="Calibri" pitchFamily="34" charset="-122"/>
                <a:cs typeface="Calibri" pitchFamily="34" charset="-120"/>
              </a:rPr>
              <a:t>Thay vì chấm 1 đoạn đại diện cho cả văn bản, chấm K đoạn và lấy ĐIỂM CAO NHẤT làm điểm của văn bản.</a:t>
            </a:r>
            <a:endParaRPr lang="en-US" sz="1450" dirty="0"/>
          </a:p>
        </p:txBody>
      </p:sp>
      <p:sp>
        <p:nvSpPr>
          <p:cNvPr id="5" name="Shape 3"/>
          <p:cNvSpPr/>
          <p:nvPr/>
        </p:nvSpPr>
        <p:spPr>
          <a:xfrm>
            <a:off x="640080" y="2148840"/>
            <a:ext cx="2606040" cy="1371600"/>
          </a:xfrm>
          <a:prstGeom prst="roundRect">
            <a:avLst>
              <a:gd name="adj" fmla="val 5333"/>
            </a:avLst>
          </a:prstGeom>
          <a:solidFill>
            <a:srgbClr val="EEF1F6"/>
          </a:solidFill>
          <a:ln w="9525">
            <a:solidFill>
              <a:srgbClr val="C9D2DF"/>
            </a:solidFill>
            <a:prstDash val="solid"/>
          </a:ln>
        </p:spPr>
      </p:sp>
      <p:sp>
        <p:nvSpPr>
          <p:cNvPr id="6" name="Text 4"/>
          <p:cNvSpPr txBox="1"/>
          <p:nvPr/>
        </p:nvSpPr>
        <p:spPr>
          <a:xfrm>
            <a:off x="640080" y="2295144"/>
            <a:ext cx="2606040" cy="658368"/>
          </a:xfrm>
          <a:prstGeom prst="rect">
            <a:avLst/>
          </a:prstGeom>
          <a:noFill/>
          <a:ln/>
        </p:spPr>
        <p:txBody>
          <a:bodyPr wrap="square" lIns="0" tIns="0" rIns="0" bIns="0" rtlCol="0" anchor="ctr"/>
          <a:lstStyle/>
          <a:p>
            <a:pPr algn="ctr" indent="0" marL="0">
              <a:buNone/>
            </a:pPr>
            <a:r>
              <a:rPr lang="en-US" sz="3400" b="1" dirty="0">
                <a:solidFill>
                  <a:srgbClr val="2E6A5A"/>
                </a:solidFill>
                <a:latin typeface="Times New Roman" pitchFamily="34" charset="0"/>
                <a:ea typeface="Times New Roman" pitchFamily="34" charset="-122"/>
                <a:cs typeface="Times New Roman" pitchFamily="34" charset="-120"/>
              </a:rPr>
              <a:t>+2,67</a:t>
            </a:r>
            <a:endParaRPr lang="en-US" sz="3400" dirty="0"/>
          </a:p>
        </p:txBody>
      </p:sp>
      <p:sp>
        <p:nvSpPr>
          <p:cNvPr id="7" name="Text 5"/>
          <p:cNvSpPr txBox="1"/>
          <p:nvPr/>
        </p:nvSpPr>
        <p:spPr>
          <a:xfrm>
            <a:off x="749808" y="2990088"/>
            <a:ext cx="2386584" cy="438912"/>
          </a:xfrm>
          <a:prstGeom prst="rect">
            <a:avLst/>
          </a:prstGeom>
          <a:noFill/>
          <a:ln/>
        </p:spPr>
        <p:txBody>
          <a:bodyPr wrap="square" lIns="0" tIns="0" rIns="0" bIns="0" rtlCol="0" anchor="ctr"/>
          <a:lstStyle/>
          <a:p>
            <a:pPr algn="ctr" indent="0" marL="0">
              <a:buNone/>
            </a:pPr>
            <a:r>
              <a:rPr lang="en-US" sz="1100" dirty="0">
                <a:solidFill>
                  <a:srgbClr val="60708A"/>
                </a:solidFill>
                <a:latin typeface="Calibri" pitchFamily="34" charset="0"/>
                <a:ea typeface="Calibri" pitchFamily="34" charset="-122"/>
                <a:cs typeface="Calibri" pitchFamily="34" charset="-120"/>
              </a:rPr>
              <a:t>điểm public LB — đòn lớn nhất</a:t>
            </a:r>
            <a:endParaRPr lang="en-US" sz="1100" dirty="0"/>
          </a:p>
        </p:txBody>
      </p:sp>
      <p:sp>
        <p:nvSpPr>
          <p:cNvPr id="8" name="Shape 6"/>
          <p:cNvSpPr/>
          <p:nvPr/>
        </p:nvSpPr>
        <p:spPr>
          <a:xfrm>
            <a:off x="3474720" y="2148840"/>
            <a:ext cx="2606040" cy="1371600"/>
          </a:xfrm>
          <a:prstGeom prst="roundRect">
            <a:avLst>
              <a:gd name="adj" fmla="val 5333"/>
            </a:avLst>
          </a:prstGeom>
          <a:solidFill>
            <a:srgbClr val="EEF1F6"/>
          </a:solidFill>
          <a:ln w="9525">
            <a:solidFill>
              <a:srgbClr val="C9D2DF"/>
            </a:solidFill>
            <a:prstDash val="solid"/>
          </a:ln>
        </p:spPr>
      </p:sp>
      <p:sp>
        <p:nvSpPr>
          <p:cNvPr id="9" name="Text 7"/>
          <p:cNvSpPr txBox="1"/>
          <p:nvPr/>
        </p:nvSpPr>
        <p:spPr>
          <a:xfrm>
            <a:off x="3474720" y="2295144"/>
            <a:ext cx="2606040" cy="658368"/>
          </a:xfrm>
          <a:prstGeom prst="rect">
            <a:avLst/>
          </a:prstGeom>
          <a:noFill/>
          <a:ln/>
        </p:spPr>
        <p:txBody>
          <a:bodyPr wrap="square" lIns="0" tIns="0" rIns="0" bIns="0" rtlCol="0" anchor="ctr"/>
          <a:lstStyle/>
          <a:p>
            <a:pPr algn="ctr" indent="0" marL="0">
              <a:buNone/>
            </a:pPr>
            <a:r>
              <a:rPr lang="en-US" sz="3400" b="1" dirty="0">
                <a:solidFill>
                  <a:srgbClr val="16233D"/>
                </a:solidFill>
                <a:latin typeface="Times New Roman" pitchFamily="34" charset="0"/>
                <a:ea typeface="Times New Roman" pitchFamily="34" charset="-122"/>
                <a:cs typeface="Times New Roman" pitchFamily="34" charset="-120"/>
              </a:rPr>
              <a:t>M = 20</a:t>
            </a:r>
            <a:endParaRPr lang="en-US" sz="3400" dirty="0"/>
          </a:p>
        </p:txBody>
      </p:sp>
      <p:sp>
        <p:nvSpPr>
          <p:cNvPr id="10" name="Text 8"/>
          <p:cNvSpPr txBox="1"/>
          <p:nvPr/>
        </p:nvSpPr>
        <p:spPr>
          <a:xfrm>
            <a:off x="3584448" y="2990088"/>
            <a:ext cx="2386584" cy="438912"/>
          </a:xfrm>
          <a:prstGeom prst="rect">
            <a:avLst/>
          </a:prstGeom>
          <a:noFill/>
          <a:ln/>
        </p:spPr>
        <p:txBody>
          <a:bodyPr wrap="square" lIns="0" tIns="0" rIns="0" bIns="0" rtlCol="0" anchor="ctr"/>
          <a:lstStyle/>
          <a:p>
            <a:pPr algn="ctr" indent="0" marL="0">
              <a:buNone/>
            </a:pPr>
            <a:r>
              <a:rPr lang="en-US" sz="1100" dirty="0">
                <a:solidFill>
                  <a:srgbClr val="60708A"/>
                </a:solidFill>
                <a:latin typeface="Calibri" pitchFamily="34" charset="0"/>
                <a:ea typeface="Calibri" pitchFamily="34" charset="-122"/>
                <a:cs typeface="Calibri" pitchFamily="34" charset="-120"/>
              </a:rPr>
              <a:t>số văn bản được đọc sâu</a:t>
            </a:r>
            <a:endParaRPr lang="en-US" sz="1100" dirty="0"/>
          </a:p>
        </p:txBody>
      </p:sp>
      <p:sp>
        <p:nvSpPr>
          <p:cNvPr id="11" name="Shape 9"/>
          <p:cNvSpPr/>
          <p:nvPr/>
        </p:nvSpPr>
        <p:spPr>
          <a:xfrm>
            <a:off x="6309360" y="2148840"/>
            <a:ext cx="2606040" cy="1371600"/>
          </a:xfrm>
          <a:prstGeom prst="roundRect">
            <a:avLst>
              <a:gd name="adj" fmla="val 5333"/>
            </a:avLst>
          </a:prstGeom>
          <a:solidFill>
            <a:srgbClr val="EEF1F6"/>
          </a:solidFill>
          <a:ln w="9525">
            <a:solidFill>
              <a:srgbClr val="C9D2DF"/>
            </a:solidFill>
            <a:prstDash val="solid"/>
          </a:ln>
        </p:spPr>
      </p:sp>
      <p:sp>
        <p:nvSpPr>
          <p:cNvPr id="12" name="Text 10"/>
          <p:cNvSpPr txBox="1"/>
          <p:nvPr/>
        </p:nvSpPr>
        <p:spPr>
          <a:xfrm>
            <a:off x="6309360" y="2295144"/>
            <a:ext cx="2606040" cy="658368"/>
          </a:xfrm>
          <a:prstGeom prst="rect">
            <a:avLst/>
          </a:prstGeom>
          <a:noFill/>
          <a:ln/>
        </p:spPr>
        <p:txBody>
          <a:bodyPr wrap="square" lIns="0" tIns="0" rIns="0" bIns="0" rtlCol="0" anchor="ctr"/>
          <a:lstStyle/>
          <a:p>
            <a:pPr algn="ctr" indent="0" marL="0">
              <a:buNone/>
            </a:pPr>
            <a:r>
              <a:rPr lang="en-US" sz="3400" b="1" dirty="0">
                <a:solidFill>
                  <a:srgbClr val="16233D"/>
                </a:solidFill>
                <a:latin typeface="Times New Roman" pitchFamily="34" charset="0"/>
                <a:ea typeface="Times New Roman" pitchFamily="34" charset="-122"/>
                <a:cs typeface="Times New Roman" pitchFamily="34" charset="-120"/>
              </a:rPr>
              <a:t>K = 50</a:t>
            </a:r>
            <a:endParaRPr lang="en-US" sz="3400" dirty="0"/>
          </a:p>
        </p:txBody>
      </p:sp>
      <p:sp>
        <p:nvSpPr>
          <p:cNvPr id="13" name="Text 11"/>
          <p:cNvSpPr txBox="1"/>
          <p:nvPr/>
        </p:nvSpPr>
        <p:spPr>
          <a:xfrm>
            <a:off x="6419088" y="2990088"/>
            <a:ext cx="2386584" cy="438912"/>
          </a:xfrm>
          <a:prstGeom prst="rect">
            <a:avLst/>
          </a:prstGeom>
          <a:noFill/>
          <a:ln/>
        </p:spPr>
        <p:txBody>
          <a:bodyPr wrap="square" lIns="0" tIns="0" rIns="0" bIns="0" rtlCol="0" anchor="ctr"/>
          <a:lstStyle/>
          <a:p>
            <a:pPr algn="ctr" indent="0" marL="0">
              <a:buNone/>
            </a:pPr>
            <a:r>
              <a:rPr lang="en-US" sz="1100" dirty="0">
                <a:solidFill>
                  <a:srgbClr val="60708A"/>
                </a:solidFill>
                <a:latin typeface="Calibri" pitchFamily="34" charset="0"/>
                <a:ea typeface="Calibri" pitchFamily="34" charset="-122"/>
                <a:cs typeface="Calibri" pitchFamily="34" charset="-120"/>
              </a:rPr>
              <a:t>số đoạn mỗi văn bản</a:t>
            </a:r>
            <a:endParaRPr lang="en-US" sz="1100" dirty="0"/>
          </a:p>
        </p:txBody>
      </p:sp>
      <p:sp>
        <p:nvSpPr>
          <p:cNvPr id="14" name="Shape 12"/>
          <p:cNvSpPr/>
          <p:nvPr/>
        </p:nvSpPr>
        <p:spPr>
          <a:xfrm>
            <a:off x="9144000" y="2148840"/>
            <a:ext cx="2377440" cy="1371600"/>
          </a:xfrm>
          <a:prstGeom prst="roundRect">
            <a:avLst>
              <a:gd name="adj" fmla="val 5333"/>
            </a:avLst>
          </a:prstGeom>
          <a:solidFill>
            <a:srgbClr val="EEF1F6"/>
          </a:solidFill>
          <a:ln w="9525">
            <a:solidFill>
              <a:srgbClr val="C9D2DF"/>
            </a:solidFill>
            <a:prstDash val="solid"/>
          </a:ln>
        </p:spPr>
      </p:sp>
      <p:sp>
        <p:nvSpPr>
          <p:cNvPr id="15" name="Text 13"/>
          <p:cNvSpPr txBox="1"/>
          <p:nvPr/>
        </p:nvSpPr>
        <p:spPr>
          <a:xfrm>
            <a:off x="9144000" y="2295144"/>
            <a:ext cx="2377440" cy="658368"/>
          </a:xfrm>
          <a:prstGeom prst="rect">
            <a:avLst/>
          </a:prstGeom>
          <a:noFill/>
          <a:ln/>
        </p:spPr>
        <p:txBody>
          <a:bodyPr wrap="square" lIns="0" tIns="0" rIns="0" bIns="0" rtlCol="0" anchor="ctr"/>
          <a:lstStyle/>
          <a:p>
            <a:pPr algn="ctr" indent="0" marL="0">
              <a:buNone/>
            </a:pPr>
            <a:r>
              <a:rPr lang="en-US" sz="3400" b="1" dirty="0">
                <a:solidFill>
                  <a:srgbClr val="A6202B"/>
                </a:solidFill>
                <a:latin typeface="Times New Roman" pitchFamily="34" charset="0"/>
                <a:ea typeface="Times New Roman" pitchFamily="34" charset="-122"/>
                <a:cs typeface="Times New Roman" pitchFamily="34" charset="-120"/>
              </a:rPr>
              <a:t>93,3 %</a:t>
            </a:r>
            <a:endParaRPr lang="en-US" sz="3400" dirty="0"/>
          </a:p>
        </p:txBody>
      </p:sp>
      <p:sp>
        <p:nvSpPr>
          <p:cNvPr id="16" name="Text 14"/>
          <p:cNvSpPr txBox="1"/>
          <p:nvPr/>
        </p:nvSpPr>
        <p:spPr>
          <a:xfrm>
            <a:off x="9253728" y="2990088"/>
            <a:ext cx="2157984" cy="438912"/>
          </a:xfrm>
          <a:prstGeom prst="rect">
            <a:avLst/>
          </a:prstGeom>
          <a:noFill/>
          <a:ln/>
        </p:spPr>
        <p:txBody>
          <a:bodyPr wrap="square" lIns="0" tIns="0" rIns="0" bIns="0" rtlCol="0" anchor="ctr"/>
          <a:lstStyle/>
          <a:p>
            <a:pPr algn="ctr" indent="0" marL="0">
              <a:buNone/>
            </a:pPr>
            <a:r>
              <a:rPr lang="en-US" sz="1100" dirty="0">
                <a:solidFill>
                  <a:srgbClr val="60708A"/>
                </a:solidFill>
                <a:latin typeface="Calibri" pitchFamily="34" charset="0"/>
                <a:ea typeface="Calibri" pitchFamily="34" charset="-122"/>
                <a:cs typeface="Calibri" pitchFamily="34" charset="-120"/>
              </a:rPr>
              <a:t>văn bản đã có đoạn tốt nhất trong 20 đoạn đầu</a:t>
            </a:r>
            <a:endParaRPr lang="en-US" sz="1100" dirty="0"/>
          </a:p>
        </p:txBody>
      </p:sp>
      <p:sp>
        <p:nvSpPr>
          <p:cNvPr id="17" name="Shape 15"/>
          <p:cNvSpPr/>
          <p:nvPr/>
        </p:nvSpPr>
        <p:spPr>
          <a:xfrm>
            <a:off x="640080" y="3794760"/>
            <a:ext cx="5349240" cy="2514600"/>
          </a:xfrm>
          <a:prstGeom prst="roundRect">
            <a:avLst>
              <a:gd name="adj" fmla="val 2909"/>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18" name="Text 16"/>
          <p:cNvSpPr txBox="1"/>
          <p:nvPr/>
        </p:nvSpPr>
        <p:spPr>
          <a:xfrm>
            <a:off x="877824" y="3977640"/>
            <a:ext cx="4892040" cy="384048"/>
          </a:xfrm>
          <a:prstGeom prst="rect">
            <a:avLst/>
          </a:prstGeom>
          <a:noFill/>
          <a:ln/>
        </p:spPr>
        <p:txBody>
          <a:bodyPr wrap="square" lIns="0" tIns="0" rIns="0" bIns="0" rtlCol="0" anchor="ctr"/>
          <a:lstStyle/>
          <a:p>
            <a:pPr indent="0" marL="0">
              <a:buNone/>
            </a:pPr>
            <a:r>
              <a:rPr lang="en-US" sz="1500" b="1" dirty="0">
                <a:solidFill>
                  <a:srgbClr val="16233D"/>
                </a:solidFill>
                <a:latin typeface="Calibri" pitchFamily="34" charset="0"/>
                <a:ea typeface="Calibri" pitchFamily="34" charset="-122"/>
                <a:cs typeface="Calibri" pitchFamily="34" charset="-120"/>
              </a:rPr>
              <a:t>Chọn đoạn nào để chấm?</a:t>
            </a:r>
            <a:endParaRPr lang="en-US" sz="1500" dirty="0"/>
          </a:p>
        </p:txBody>
      </p:sp>
      <p:sp>
        <p:nvSpPr>
          <p:cNvPr id="19" name="Text 17"/>
          <p:cNvSpPr txBox="1"/>
          <p:nvPr/>
        </p:nvSpPr>
        <p:spPr>
          <a:xfrm>
            <a:off x="877824" y="4398264"/>
            <a:ext cx="4892040" cy="172821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Xếp hạng đoạn bằng BM25 TRONG PHẠM VI chính văn bản đó, lấy K đoạn đầu.</a:t>
            </a:r>
            <a:endParaRPr lang="en-US" sz="1250" dirty="0"/>
          </a:p>
          <a:p>
            <a:pPr indent="0" marL="0">
              <a:lnSpc>
                <a:spcPts val="1700"/>
              </a:lnSpc>
              <a:buNone/>
            </a:pPr>
            <a:endParaRPr lang="en-US" sz="1250" dirty="0"/>
          </a:p>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Bộ chọn này kém ở việc xếp hạng — chỉ trúng đoạn tốt nhất 8/24 ca — nhưng khá ở việc khoanh vùng: đoạn tốt nhất nằm trong top-20 ở 20/24 ca.</a:t>
            </a:r>
            <a:endParaRPr lang="en-US" sz="1250" dirty="0"/>
          </a:p>
        </p:txBody>
      </p:sp>
      <p:sp>
        <p:nvSpPr>
          <p:cNvPr id="20" name="Shape 18"/>
          <p:cNvSpPr/>
          <p:nvPr/>
        </p:nvSpPr>
        <p:spPr>
          <a:xfrm>
            <a:off x="6172200" y="3794760"/>
            <a:ext cx="5349240" cy="2514600"/>
          </a:xfrm>
          <a:prstGeom prst="roundRect">
            <a:avLst>
              <a:gd name="adj" fmla="val 2909"/>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21" name="Text 19"/>
          <p:cNvSpPr txBox="1"/>
          <p:nvPr/>
        </p:nvSpPr>
        <p:spPr>
          <a:xfrm>
            <a:off x="6409944" y="3977640"/>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Trần của hướng này đã chạm</a:t>
            </a:r>
            <a:endParaRPr lang="en-US" sz="1500" dirty="0"/>
          </a:p>
        </p:txBody>
      </p:sp>
      <p:sp>
        <p:nvSpPr>
          <p:cNvPr id="22" name="Text 20"/>
          <p:cNvSpPr txBox="1"/>
          <p:nvPr/>
        </p:nvSpPr>
        <p:spPr>
          <a:xfrm>
            <a:off x="6409944" y="4398264"/>
            <a:ext cx="4892040" cy="172821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Nâng K từ 20 lên 50 tốn 14,8 giờ GPU và chỉ đổi điểm cho 6,7% văn bản.</a:t>
            </a:r>
            <a:endParaRPr lang="en-US" sz="1250" dirty="0"/>
          </a:p>
          <a:p>
            <a:pPr indent="0" marL="0">
              <a:lnSpc>
                <a:spcPts val="1700"/>
              </a:lnSpc>
              <a:buNone/>
            </a:pPr>
            <a:endParaRPr lang="en-US" sz="1250" dirty="0"/>
          </a:p>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Kết quả: +0,20 điểm ở n=2, và ĐÚNG 0,00 ở n=3. Hướng đã đóng bằng phép đo, không phải phỏng đoán.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A6202B"/>
                </a:solidFill>
                <a:latin typeface="Calibri" pitchFamily="34" charset="0"/>
                <a:ea typeface="Calibri" pitchFamily="34" charset="-122"/>
                <a:cs typeface="Calibri" pitchFamily="34" charset="-120"/>
              </a:rPr>
              <a:t>ĐÒN THỨ BA</a:t>
            </a:r>
            <a:endParaRPr lang="en-US" sz="12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6233D"/>
                </a:solidFill>
                <a:latin typeface="Times New Roman" pitchFamily="34" charset="0"/>
                <a:ea typeface="Times New Roman" pitchFamily="34" charset="-122"/>
                <a:cs typeface="Times New Roman" pitchFamily="34" charset="-120"/>
              </a:rPr>
              <a:t>Slot-Reservation Blending  (heuristic của nhóm)</a:t>
            </a:r>
            <a:endParaRPr lang="en-US" sz="3400" dirty="0"/>
          </a:p>
        </p:txBody>
      </p:sp>
      <p:sp>
        <p:nvSpPr>
          <p:cNvPr id="4" name="Text 2"/>
          <p:cNvSpPr txBox="1"/>
          <p:nvPr/>
        </p:nvSpPr>
        <p:spPr>
          <a:xfrm>
            <a:off x="640080" y="1572768"/>
            <a:ext cx="10881360" cy="384048"/>
          </a:xfrm>
          <a:prstGeom prst="rect">
            <a:avLst/>
          </a:prstGeom>
          <a:noFill/>
          <a:ln/>
        </p:spPr>
        <p:txBody>
          <a:bodyPr wrap="square" lIns="0" tIns="0" rIns="0" bIns="0" rtlCol="0" anchor="ctr"/>
          <a:lstStyle/>
          <a:p>
            <a:pPr indent="0" marL="0">
              <a:buNone/>
            </a:pPr>
            <a:r>
              <a:rPr lang="en-US" sz="1450" dirty="0">
                <a:solidFill>
                  <a:srgbClr val="2C3E63"/>
                </a:solidFill>
                <a:latin typeface="Calibri" pitchFamily="34" charset="0"/>
                <a:ea typeface="Calibri" pitchFamily="34" charset="-122"/>
                <a:cs typeface="Calibri" pitchFamily="34" charset="-120"/>
              </a:rPr>
              <a:t>Không trộn điểm. Giữ n slot đầu của đáp án theo thứ tự rổ, phần còn lại mới để bộ chấm quyết.</a:t>
            </a:r>
            <a:endParaRPr lang="en-US" sz="14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881360" cy="914400"/>
        </p:xfrm>
        <a:graphic>
          <a:graphicData uri="http://schemas.openxmlformats.org/drawingml/2006/table">
            <a:tbl>
              <a:tblPr/>
              <a:tblGrid>
                <a:gridCol w="5486400"/>
                <a:gridCol w="2743200"/>
                <a:gridCol w="265176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Quy tắc chốt top-5</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recall@5 · dev300</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so với rổ trần</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r>
              <a:tr h="402336">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Rổ trần — nộp thẳng 5 đầu rổ, không chấm lại</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0,9117</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402336">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Bộ chấm thuần (n = 0)</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0,8817</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A6202B"/>
                          </a:solidFill>
                          <a:latin typeface="Calibri" pitchFamily="34" charset="0"/>
                          <a:ea typeface="Calibri" pitchFamily="34" charset="-122"/>
                          <a:cs typeface="Calibri" pitchFamily="34" charset="-120"/>
                        </a:rPr>
                        <a:t>−3,00</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402336">
                <a:tc>
                  <a:txBody>
                    <a:bodyPr/>
                    <a:lstStyle/>
                    <a:p>
                      <a:pPr indent="0" marL="0">
                        <a:buNone/>
                      </a:pPr>
                      <a:r>
                        <a:rPr lang="en-US" sz="1200" b="1" dirty="0">
                          <a:solidFill>
                            <a:srgbClr val="16233D"/>
                          </a:solidFill>
                          <a:latin typeface="Calibri" pitchFamily="34" charset="0"/>
                          <a:ea typeface="Calibri" pitchFamily="34" charset="-122"/>
                          <a:cs typeface="Calibri" pitchFamily="34" charset="-120"/>
                        </a:rPr>
                        <a:t>Slot-Reservation n = 3</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b="1" dirty="0">
                          <a:solidFill>
                            <a:srgbClr val="16233D"/>
                          </a:solidFill>
                          <a:latin typeface="Calibri" pitchFamily="34" charset="0"/>
                          <a:ea typeface="Calibri" pitchFamily="34" charset="-122"/>
                          <a:cs typeface="Calibri" pitchFamily="34" charset="-120"/>
                        </a:rPr>
                        <a:t>0,9467</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b="1" dirty="0">
                          <a:solidFill>
                            <a:srgbClr val="2E6A5A"/>
                          </a:solidFill>
                          <a:latin typeface="Calibri" pitchFamily="34" charset="0"/>
                          <a:ea typeface="Calibri" pitchFamily="34" charset="-122"/>
                          <a:cs typeface="Calibri" pitchFamily="34" charset="-120"/>
                        </a:rPr>
                        <a:t>+3,50</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402336">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Score fusion — z-score, α ∈ {0,1…0,7}</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0,9083 – 0,9317</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A6202B"/>
                          </a:solidFill>
                          <a:latin typeface="Calibri" pitchFamily="34" charset="0"/>
                          <a:ea typeface="Calibri" pitchFamily="34" charset="-122"/>
                          <a:cs typeface="Calibri" pitchFamily="34" charset="-120"/>
                        </a:rPr>
                        <a:t>thua ở MỌI α</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402336">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Rank fusion — RRF hai thứ hạng, k ∈ {1…60}</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16233D"/>
                          </a:solidFill>
                          <a:latin typeface="Calibri" pitchFamily="34" charset="0"/>
                          <a:ea typeface="Calibri" pitchFamily="34" charset="-122"/>
                          <a:cs typeface="Calibri" pitchFamily="34" charset="-120"/>
                        </a:rPr>
                        <a:t>0,9033 – 0,9333</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200" dirty="0">
                          <a:solidFill>
                            <a:srgbClr val="A6202B"/>
                          </a:solidFill>
                          <a:latin typeface="Calibri" pitchFamily="34" charset="0"/>
                          <a:ea typeface="Calibri" pitchFamily="34" charset="-122"/>
                          <a:cs typeface="Calibri" pitchFamily="34" charset="-120"/>
                        </a:rPr>
                        <a:t>thua ở MỌI k</a:t>
                      </a:r>
                      <a:endParaRPr lang="en-US" sz="12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bl>
          </a:graphicData>
        </a:graphic>
      </p:graphicFrame>
      <p:sp>
        <p:nvSpPr>
          <p:cNvPr id="6" name="Shape 3"/>
          <p:cNvSpPr/>
          <p:nvPr/>
        </p:nvSpPr>
        <p:spPr>
          <a:xfrm>
            <a:off x="640080" y="4846320"/>
            <a:ext cx="10881360" cy="1508760"/>
          </a:xfrm>
          <a:prstGeom prst="roundRect">
            <a:avLst>
              <a:gd name="adj" fmla="val 4848"/>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7" name="Text 4"/>
          <p:cNvSpPr txBox="1"/>
          <p:nvPr/>
        </p:nvSpPr>
        <p:spPr>
          <a:xfrm>
            <a:off x="877824" y="5029200"/>
            <a:ext cx="1042416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Vì sao giữ chỗ thắng mọi cách gộp điểm</a:t>
            </a:r>
            <a:endParaRPr lang="en-US" sz="1500" dirty="0"/>
          </a:p>
        </p:txBody>
      </p:sp>
      <p:sp>
        <p:nvSpPr>
          <p:cNvPr id="8" name="Text 5"/>
          <p:cNvSpPr txBox="1"/>
          <p:nvPr/>
        </p:nvSpPr>
        <p:spPr>
          <a:xfrm>
            <a:off x="877824" y="5449824"/>
            <a:ext cx="10424160" cy="72237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Gộp điểm bôi ảnh hưởng của bộ chấm lên cả 5 slot. Giữ chỗ KHOANH VÙNG nó vào đúng 5−n slot. Khi bộ chấm lỗ ròng (slide sau), khoanh vùng là đúng chiến lược, còn trộn đều là sai chiến lược.</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33D"/>
        </a:solidFill>
      </p:bgPr>
    </p:bg>
    <p:spTree>
      <p:nvGrpSpPr>
        <p:cNvPr id="1" name=""/>
        <p:cNvGrpSpPr/>
        <p:nvPr/>
      </p:nvGrpSpPr>
      <p:grpSpPr>
        <a:xfrm>
          <a:off x="0" y="0"/>
          <a:ext cx="0" cy="0"/>
          <a:chOff x="0" y="0"/>
          <a:chExt cx="0" cy="0"/>
        </a:xfrm>
      </p:grpSpPr>
      <p:sp>
        <p:nvSpPr>
          <p:cNvPr id="2" name="Text 0"/>
          <p:cNvSpPr txBox="1"/>
          <p:nvPr/>
        </p:nvSpPr>
        <p:spPr>
          <a:xfrm>
            <a:off x="822960" y="685800"/>
            <a:ext cx="10515600" cy="320040"/>
          </a:xfrm>
          <a:prstGeom prst="rect">
            <a:avLst/>
          </a:prstGeom>
          <a:noFill/>
          <a:ln/>
        </p:spPr>
        <p:txBody>
          <a:bodyPr wrap="square" lIns="0" tIns="0" rIns="0" bIns="0" rtlCol="0" anchor="ctr"/>
          <a:lstStyle/>
          <a:p>
            <a:pPr indent="0" marL="0">
              <a:buNone/>
            </a:pPr>
            <a:r>
              <a:rPr lang="en-US" sz="1200" b="1" spc="250" kern="0" dirty="0">
                <a:solidFill>
                  <a:srgbClr val="E4909A"/>
                </a:solidFill>
                <a:latin typeface="Calibri" pitchFamily="34" charset="0"/>
                <a:ea typeface="Calibri" pitchFamily="34" charset="-122"/>
                <a:cs typeface="Calibri" pitchFamily="34" charset="-120"/>
              </a:rPr>
              <a:t>PHÁT HIỆN PHẢN TRỰC GIÁC</a:t>
            </a:r>
            <a:endParaRPr lang="en-US" sz="1200" dirty="0"/>
          </a:p>
        </p:txBody>
      </p:sp>
      <p:sp>
        <p:nvSpPr>
          <p:cNvPr id="3" name="Text 1"/>
          <p:cNvSpPr txBox="1"/>
          <p:nvPr/>
        </p:nvSpPr>
        <p:spPr>
          <a:xfrm>
            <a:off x="822960" y="1005840"/>
            <a:ext cx="10515600" cy="731520"/>
          </a:xfrm>
          <a:prstGeom prst="rect">
            <a:avLst/>
          </a:prstGeom>
          <a:noFill/>
          <a:ln/>
        </p:spPr>
        <p:txBody>
          <a:bodyPr wrap="square" lIns="0" tIns="0" rIns="0" bIns="0" rtlCol="0" anchor="ctr"/>
          <a:lstStyle/>
          <a:p>
            <a:pPr indent="0" marL="0">
              <a:buNone/>
            </a:pPr>
            <a:r>
              <a:rPr lang="en-US" sz="3600" b="1" dirty="0">
                <a:solidFill>
                  <a:srgbClr val="FFFFFF"/>
                </a:solidFill>
                <a:latin typeface="Times New Roman" pitchFamily="34" charset="0"/>
                <a:ea typeface="Times New Roman" pitchFamily="34" charset="-122"/>
                <a:cs typeface="Times New Roman" pitchFamily="34" charset="-120"/>
              </a:rPr>
              <a:t>Rổ càng tốt, bộ chấm càng có hại</a:t>
            </a:r>
            <a:endParaRPr lang="en-US" sz="3600" dirty="0"/>
          </a:p>
        </p:txBody>
      </p:sp>
      <p:sp>
        <p:nvSpPr>
          <p:cNvPr id="4" name="Shape 2"/>
          <p:cNvSpPr/>
          <p:nvPr/>
        </p:nvSpPr>
        <p:spPr>
          <a:xfrm>
            <a:off x="822960" y="2103120"/>
            <a:ext cx="3246120" cy="1828800"/>
          </a:xfrm>
          <a:prstGeom prst="roundRect">
            <a:avLst>
              <a:gd name="adj" fmla="val 4000"/>
            </a:avLst>
          </a:prstGeom>
          <a:solidFill>
            <a:srgbClr val="1F3358"/>
          </a:solidFill>
          <a:ln w="12700">
            <a:solidFill>
              <a:srgbClr val="3B5480"/>
            </a:solidFill>
            <a:prstDash val="solid"/>
          </a:ln>
        </p:spPr>
      </p:sp>
      <p:sp>
        <p:nvSpPr>
          <p:cNvPr id="5" name="Text 3"/>
          <p:cNvSpPr txBox="1"/>
          <p:nvPr/>
        </p:nvSpPr>
        <p:spPr>
          <a:xfrm>
            <a:off x="822960" y="2331720"/>
            <a:ext cx="3246120" cy="777240"/>
          </a:xfrm>
          <a:prstGeom prst="rect">
            <a:avLst/>
          </a:prstGeom>
          <a:noFill/>
          <a:ln/>
        </p:spPr>
        <p:txBody>
          <a:bodyPr wrap="square" lIns="0" tIns="0" rIns="0" bIns="0" rtlCol="0" anchor="ctr"/>
          <a:lstStyle/>
          <a:p>
            <a:pPr algn="ctr" indent="0" marL="0">
              <a:buNone/>
            </a:pPr>
            <a:r>
              <a:rPr lang="en-US" sz="4000" b="1" dirty="0">
                <a:solidFill>
                  <a:srgbClr val="9FD8C4"/>
                </a:solidFill>
                <a:latin typeface="Times New Roman" pitchFamily="34" charset="0"/>
                <a:ea typeface="Times New Roman" pitchFamily="34" charset="-122"/>
                <a:cs typeface="Times New Roman" pitchFamily="34" charset="-120"/>
              </a:rPr>
              <a:t>14</a:t>
            </a:r>
            <a:endParaRPr lang="en-US" sz="4000" dirty="0"/>
          </a:p>
        </p:txBody>
      </p:sp>
      <p:sp>
        <p:nvSpPr>
          <p:cNvPr id="6" name="Text 4"/>
          <p:cNvSpPr txBox="1"/>
          <p:nvPr/>
        </p:nvSpPr>
        <p:spPr>
          <a:xfrm>
            <a:off x="1005840" y="3127248"/>
            <a:ext cx="2880360" cy="685800"/>
          </a:xfrm>
          <a:prstGeom prst="rect">
            <a:avLst/>
          </a:prstGeom>
          <a:noFill/>
          <a:ln/>
        </p:spPr>
        <p:txBody>
          <a:bodyPr wrap="square" lIns="0" tIns="0" rIns="0" bIns="0" rtlCol="0" anchor="ctr"/>
          <a:lstStyle/>
          <a:p>
            <a:pPr algn="ctr" indent="0" marL="0">
              <a:buNone/>
            </a:pPr>
            <a:r>
              <a:rPr lang="en-US" sz="1200" dirty="0">
                <a:solidFill>
                  <a:srgbClr val="CFDBEC"/>
                </a:solidFill>
                <a:latin typeface="Calibri" pitchFamily="34" charset="0"/>
                <a:ea typeface="Calibri" pitchFamily="34" charset="-122"/>
                <a:cs typeface="Calibri" pitchFamily="34" charset="-120"/>
              </a:rPr>
              <a:t>câu bộ chấm KÉO gold vào top-5</a:t>
            </a:r>
            <a:endParaRPr lang="en-US" sz="1200" dirty="0"/>
          </a:p>
        </p:txBody>
      </p:sp>
      <p:sp>
        <p:nvSpPr>
          <p:cNvPr id="7" name="Shape 5"/>
          <p:cNvSpPr/>
          <p:nvPr/>
        </p:nvSpPr>
        <p:spPr>
          <a:xfrm>
            <a:off x="4343400" y="2103120"/>
            <a:ext cx="3246120" cy="1828800"/>
          </a:xfrm>
          <a:prstGeom prst="roundRect">
            <a:avLst>
              <a:gd name="adj" fmla="val 4000"/>
            </a:avLst>
          </a:prstGeom>
          <a:solidFill>
            <a:srgbClr val="1F3358"/>
          </a:solidFill>
          <a:ln w="12700">
            <a:solidFill>
              <a:srgbClr val="3B5480"/>
            </a:solidFill>
            <a:prstDash val="solid"/>
          </a:ln>
        </p:spPr>
      </p:sp>
      <p:sp>
        <p:nvSpPr>
          <p:cNvPr id="8" name="Text 6"/>
          <p:cNvSpPr txBox="1"/>
          <p:nvPr/>
        </p:nvSpPr>
        <p:spPr>
          <a:xfrm>
            <a:off x="4343400" y="2331720"/>
            <a:ext cx="3246120" cy="777240"/>
          </a:xfrm>
          <a:prstGeom prst="rect">
            <a:avLst/>
          </a:prstGeom>
          <a:noFill/>
          <a:ln/>
        </p:spPr>
        <p:txBody>
          <a:bodyPr wrap="square" lIns="0" tIns="0" rIns="0" bIns="0" rtlCol="0" anchor="ctr"/>
          <a:lstStyle/>
          <a:p>
            <a:pPr algn="ctr" indent="0" marL="0">
              <a:buNone/>
            </a:pPr>
            <a:r>
              <a:rPr lang="en-US" sz="4000" b="1" dirty="0">
                <a:solidFill>
                  <a:srgbClr val="E4909A"/>
                </a:solidFill>
                <a:latin typeface="Times New Roman" pitchFamily="34" charset="0"/>
                <a:ea typeface="Times New Roman" pitchFamily="34" charset="-122"/>
                <a:cs typeface="Times New Roman" pitchFamily="34" charset="-120"/>
              </a:rPr>
              <a:t>22</a:t>
            </a:r>
            <a:endParaRPr lang="en-US" sz="4000" dirty="0"/>
          </a:p>
        </p:txBody>
      </p:sp>
      <p:sp>
        <p:nvSpPr>
          <p:cNvPr id="9" name="Text 7"/>
          <p:cNvSpPr txBox="1"/>
          <p:nvPr/>
        </p:nvSpPr>
        <p:spPr>
          <a:xfrm>
            <a:off x="4526280" y="3127248"/>
            <a:ext cx="2880360" cy="685800"/>
          </a:xfrm>
          <a:prstGeom prst="rect">
            <a:avLst/>
          </a:prstGeom>
          <a:noFill/>
          <a:ln/>
        </p:spPr>
        <p:txBody>
          <a:bodyPr wrap="square" lIns="0" tIns="0" rIns="0" bIns="0" rtlCol="0" anchor="ctr"/>
          <a:lstStyle/>
          <a:p>
            <a:pPr algn="ctr" indent="0" marL="0">
              <a:buNone/>
            </a:pPr>
            <a:r>
              <a:rPr lang="en-US" sz="1200" dirty="0">
                <a:solidFill>
                  <a:srgbClr val="CFDBEC"/>
                </a:solidFill>
                <a:latin typeface="Calibri" pitchFamily="34" charset="0"/>
                <a:ea typeface="Calibri" pitchFamily="34" charset="-122"/>
                <a:cs typeface="Calibri" pitchFamily="34" charset="-120"/>
              </a:rPr>
              <a:t>câu bộ chấm ĐẨY gold ra khỏi top-5</a:t>
            </a:r>
            <a:endParaRPr lang="en-US" sz="1200" dirty="0"/>
          </a:p>
        </p:txBody>
      </p:sp>
      <p:sp>
        <p:nvSpPr>
          <p:cNvPr id="10" name="Shape 8"/>
          <p:cNvSpPr/>
          <p:nvPr/>
        </p:nvSpPr>
        <p:spPr>
          <a:xfrm>
            <a:off x="7863840" y="2103120"/>
            <a:ext cx="3246120" cy="1828800"/>
          </a:xfrm>
          <a:prstGeom prst="roundRect">
            <a:avLst>
              <a:gd name="adj" fmla="val 4000"/>
            </a:avLst>
          </a:prstGeom>
          <a:solidFill>
            <a:srgbClr val="1F3358"/>
          </a:solidFill>
          <a:ln w="12700">
            <a:solidFill>
              <a:srgbClr val="3B5480"/>
            </a:solidFill>
            <a:prstDash val="solid"/>
          </a:ln>
        </p:spPr>
      </p:sp>
      <p:sp>
        <p:nvSpPr>
          <p:cNvPr id="11" name="Text 9"/>
          <p:cNvSpPr txBox="1"/>
          <p:nvPr/>
        </p:nvSpPr>
        <p:spPr>
          <a:xfrm>
            <a:off x="7863840" y="2331720"/>
            <a:ext cx="324612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Times New Roman" pitchFamily="34" charset="0"/>
                <a:ea typeface="Times New Roman" pitchFamily="34" charset="-122"/>
                <a:cs typeface="Times New Roman" pitchFamily="34" charset="-120"/>
              </a:rPr>
              <a:t>−8</a:t>
            </a:r>
            <a:endParaRPr lang="en-US" sz="4000" dirty="0"/>
          </a:p>
        </p:txBody>
      </p:sp>
      <p:sp>
        <p:nvSpPr>
          <p:cNvPr id="12" name="Text 10"/>
          <p:cNvSpPr txBox="1"/>
          <p:nvPr/>
        </p:nvSpPr>
        <p:spPr>
          <a:xfrm>
            <a:off x="8046720" y="3127248"/>
            <a:ext cx="2880360" cy="685800"/>
          </a:xfrm>
          <a:prstGeom prst="rect">
            <a:avLst/>
          </a:prstGeom>
          <a:noFill/>
          <a:ln/>
        </p:spPr>
        <p:txBody>
          <a:bodyPr wrap="square" lIns="0" tIns="0" rIns="0" bIns="0" rtlCol="0" anchor="ctr"/>
          <a:lstStyle/>
          <a:p>
            <a:pPr algn="ctr" indent="0" marL="0">
              <a:buNone/>
            </a:pPr>
            <a:r>
              <a:rPr lang="en-US" sz="1200" dirty="0">
                <a:solidFill>
                  <a:srgbClr val="CFDBEC"/>
                </a:solidFill>
                <a:latin typeface="Calibri" pitchFamily="34" charset="0"/>
                <a:ea typeface="Calibri" pitchFamily="34" charset="-122"/>
                <a:cs typeface="Calibri" pitchFamily="34" charset="-120"/>
              </a:rPr>
              <a:t>ròng: mỗi câu cứu được thì làm hỏng 1,6 câu</a:t>
            </a:r>
            <a:endParaRPr lang="en-US" sz="1200" dirty="0"/>
          </a:p>
        </p:txBody>
      </p:sp>
      <p:sp>
        <p:nvSpPr>
          <p:cNvPr id="13" name="Shape 11"/>
          <p:cNvSpPr/>
          <p:nvPr/>
        </p:nvSpPr>
        <p:spPr>
          <a:xfrm>
            <a:off x="822960" y="4251960"/>
            <a:ext cx="10515600" cy="1234440"/>
          </a:xfrm>
          <a:prstGeom prst="roundRect">
            <a:avLst>
              <a:gd name="adj" fmla="val 5926"/>
            </a:avLst>
          </a:prstGeom>
          <a:solidFill>
            <a:srgbClr val="22304F"/>
          </a:solidFill>
          <a:ln w="12700">
            <a:solidFill>
              <a:srgbClr val="3B5480"/>
            </a:solidFill>
            <a:prstDash val="solid"/>
          </a:ln>
        </p:spPr>
      </p:sp>
      <p:sp>
        <p:nvSpPr>
          <p:cNvPr id="14" name="Text 12"/>
          <p:cNvSpPr txBox="1"/>
          <p:nvPr/>
        </p:nvSpPr>
        <p:spPr>
          <a:xfrm>
            <a:off x="1097280" y="4434840"/>
            <a:ext cx="9966960" cy="868680"/>
          </a:xfrm>
          <a:prstGeom prst="rect">
            <a:avLst/>
          </a:prstGeom>
          <a:noFill/>
          <a:ln/>
        </p:spPr>
        <p:txBody>
          <a:bodyPr wrap="square" lIns="0" tIns="0" rIns="0" bIns="0" rtlCol="0" anchor="ctr"/>
          <a:lstStyle/>
          <a:p>
            <a:pPr indent="0" marL="0">
              <a:lnSpc>
                <a:spcPts val="2600"/>
              </a:lnSpc>
              <a:buNone/>
            </a:pPr>
            <a:r>
              <a:rPr lang="en-US" sz="1600" b="1" dirty="0">
                <a:solidFill>
                  <a:srgbClr val="FFFFFF"/>
                </a:solidFill>
                <a:latin typeface="Calibri" pitchFamily="34" charset="0"/>
                <a:ea typeface="Calibri" pitchFamily="34" charset="-122"/>
                <a:cs typeface="Calibri" pitchFamily="34" charset="-120"/>
              </a:rPr>
              <a:t>Nộp thẳng 5 văn bản đầu rổ, không chấm lại gì:  0,9117</a:t>
            </a:r>
            <a:endParaRPr lang="en-US" sz="1600" dirty="0"/>
          </a:p>
          <a:p>
            <a:pPr indent="0" marL="0">
              <a:lnSpc>
                <a:spcPts val="2600"/>
              </a:lnSpc>
              <a:buNone/>
            </a:pPr>
            <a:r>
              <a:rPr lang="en-US" sz="1600" b="1" dirty="0">
                <a:solidFill>
                  <a:srgbClr val="FFFFFF"/>
                </a:solidFill>
                <a:latin typeface="Calibri" pitchFamily="34" charset="0"/>
                <a:ea typeface="Calibri" pitchFamily="34" charset="-122"/>
                <a:cs typeface="Calibri" pitchFamily="34" charset="-120"/>
              </a:rPr>
              <a:t>Chấm lại đầy đủ bằng cross-encoder 568 triệu tham số:  0,9100  —  KÉM HƠN</a:t>
            </a:r>
            <a:endParaRPr lang="en-US" sz="1600" dirty="0"/>
          </a:p>
        </p:txBody>
      </p:sp>
      <p:sp>
        <p:nvSpPr>
          <p:cNvPr id="15" name="Text 13"/>
          <p:cNvSpPr txBox="1"/>
          <p:nvPr/>
        </p:nvSpPr>
        <p:spPr>
          <a:xfrm>
            <a:off x="822960" y="5715000"/>
            <a:ext cx="10515600" cy="640080"/>
          </a:xfrm>
          <a:prstGeom prst="rect">
            <a:avLst/>
          </a:prstGeom>
          <a:noFill/>
          <a:ln/>
        </p:spPr>
        <p:txBody>
          <a:bodyPr wrap="square" lIns="0" tIns="0" rIns="0" bIns="0" rtlCol="0" anchor="ctr"/>
          <a:lstStyle/>
          <a:p>
            <a:pPr indent="0" marL="0">
              <a:buNone/>
            </a:pPr>
            <a:r>
              <a:rPr lang="en-US" sz="1400" i="1" dirty="0">
                <a:solidFill>
                  <a:srgbClr val="CFDBEC"/>
                </a:solidFill>
                <a:latin typeface="Calibri" pitchFamily="34" charset="0"/>
                <a:ea typeface="Calibri" pitchFamily="34" charset="-122"/>
                <a:cs typeface="Calibri" pitchFamily="34" charset="-120"/>
              </a:rPr>
              <a:t>Không phải bộ chấm yếu. Rổ đã giỏi tới mức phần lớn việc còn lại của nó là phá. Đây chính là lý do tồn tại của quy tắc giữ chỗ ở slide trước.</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A6202B"/>
                </a:solidFill>
                <a:latin typeface="Calibri" pitchFamily="34" charset="0"/>
                <a:ea typeface="Calibri" pitchFamily="34" charset="-122"/>
                <a:cs typeface="Calibri" pitchFamily="34" charset="-120"/>
              </a:rPr>
              <a:t>ĐỐI CHỨNG CÓ KIỂM SOÁT</a:t>
            </a:r>
            <a:endParaRPr lang="en-US" sz="12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6233D"/>
                </a:solidFill>
                <a:latin typeface="Times New Roman" pitchFamily="34" charset="0"/>
                <a:ea typeface="Times New Roman" pitchFamily="34" charset="-122"/>
                <a:cs typeface="Times New Roman" pitchFamily="34" charset="-120"/>
              </a:rPr>
              <a:t>10 cross-encoder, cùng 15.000 cặp câu hỏi–đoạn</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3566160"/>
                <a:gridCol w="2468880"/>
                <a:gridCol w="1097280"/>
                <a:gridCol w="960120"/>
                <a:gridCol w="960120"/>
                <a:gridCol w="960120"/>
                <a:gridCol w="86868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Nền</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Tham số</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R@1</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R@5</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MRR@10</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giây/cặp</a:t>
                      </a:r>
                      <a:endParaRPr lang="en-US" sz="115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solidFill>
                      <a:srgbClr val="16233D"/>
                    </a:solidFill>
                  </a:tcPr>
                </a:tc>
              </a:tr>
              <a:tr h="402336">
                <a:tc>
                  <a:txBody>
                    <a:bodyPr/>
                    <a:lstStyle/>
                    <a:p>
                      <a:pPr indent="0" marL="0">
                        <a:buNone/>
                      </a:pPr>
                      <a:r>
                        <a:rPr lang="en-US" sz="1100" b="1" dirty="0">
                          <a:solidFill>
                            <a:srgbClr val="16233D"/>
                          </a:solidFill>
                          <a:latin typeface="Calibri" pitchFamily="34" charset="0"/>
                          <a:ea typeface="Calibri" pitchFamily="34" charset="-122"/>
                          <a:cs typeface="Calibri" pitchFamily="34" charset="-120"/>
                        </a:rPr>
                        <a:t>AITeamVN/Vietnamese_Reranker  ← đang dùng</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XLM-R, tinh chỉnh tiếng Việt</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0,568B</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b="1" dirty="0">
                          <a:solidFill>
                            <a:srgbClr val="2E6A5A"/>
                          </a:solidFill>
                          <a:latin typeface="Calibri" pitchFamily="34" charset="0"/>
                          <a:ea typeface="Calibri" pitchFamily="34" charset="-122"/>
                          <a:cs typeface="Calibri" pitchFamily="34" charset="-120"/>
                        </a:rPr>
                        <a:t>0,5017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0,7467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b="1" dirty="0">
                          <a:solidFill>
                            <a:srgbClr val="2E6A5A"/>
                          </a:solidFill>
                          <a:latin typeface="Calibri" pitchFamily="34" charset="0"/>
                          <a:ea typeface="Calibri" pitchFamily="34" charset="-122"/>
                          <a:cs typeface="Calibri" pitchFamily="34" charset="-120"/>
                        </a:rPr>
                        <a:t>0,6178</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0,058</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402336">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BAAI/bge-reranker-v2-m3</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XLM-R, đa ngữ</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0,568B</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0,4683</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b="1" dirty="0">
                          <a:solidFill>
                            <a:srgbClr val="16233D"/>
                          </a:solidFill>
                          <a:latin typeface="Calibri" pitchFamily="34" charset="0"/>
                          <a:ea typeface="Calibri" pitchFamily="34" charset="-122"/>
                          <a:cs typeface="Calibri" pitchFamily="34" charset="-120"/>
                        </a:rPr>
                        <a:t>0,7517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0,5994</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0,056</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402336">
                <a:tc>
                  <a:txBody>
                    <a:bodyPr/>
                    <a:lstStyle/>
                    <a:p>
                      <a:pPr indent="0" marL="0">
                        <a:buNone/>
                      </a:pPr>
                      <a:r>
                        <a:rPr lang="en-US" sz="1100" b="1" dirty="0">
                          <a:solidFill>
                            <a:srgbClr val="16233D"/>
                          </a:solidFill>
                          <a:latin typeface="Calibri" pitchFamily="34" charset="0"/>
                          <a:ea typeface="Calibri" pitchFamily="34" charset="-122"/>
                          <a:cs typeface="Calibri" pitchFamily="34" charset="-120"/>
                        </a:rPr>
                        <a:t>cross-encoder/mmarco-mMiniLMv2</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mMiniLM, đa ngữ</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b="1" dirty="0">
                          <a:solidFill>
                            <a:srgbClr val="16233D"/>
                          </a:solidFill>
                          <a:latin typeface="Calibri" pitchFamily="34" charset="0"/>
                          <a:ea typeface="Calibri" pitchFamily="34" charset="-122"/>
                          <a:cs typeface="Calibri" pitchFamily="34" charset="-120"/>
                        </a:rPr>
                        <a:t>0,118B</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0,4867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b="1" dirty="0">
                          <a:solidFill>
                            <a:srgbClr val="2E6A5A"/>
                          </a:solidFill>
                          <a:latin typeface="Calibri" pitchFamily="34" charset="0"/>
                          <a:ea typeface="Calibri" pitchFamily="34" charset="-122"/>
                          <a:cs typeface="Calibri" pitchFamily="34" charset="-120"/>
                        </a:rPr>
                        <a:t>0,7217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0,5963</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b="1" dirty="0">
                          <a:solidFill>
                            <a:srgbClr val="16233D"/>
                          </a:solidFill>
                          <a:latin typeface="Calibri" pitchFamily="34" charset="0"/>
                          <a:ea typeface="Calibri" pitchFamily="34" charset="-122"/>
                          <a:cs typeface="Calibri" pitchFamily="34" charset="-120"/>
                        </a:rPr>
                        <a:t>0,007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402336">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Qwen/Qwen3-Reranker-0.6B</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Qwen3, decoder</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0,596B</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0,4133</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0,7217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0,5627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0,257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402336">
                <a:tc>
                  <a:txBody>
                    <a:bodyPr/>
                    <a:lstStyle/>
                    <a:p>
                      <a:pPr indent="0" marL="0">
                        <a:buNone/>
                      </a:pPr>
                      <a:r>
                        <a:rPr lang="en-US" sz="1100" b="1" dirty="0">
                          <a:solidFill>
                            <a:srgbClr val="16233D"/>
                          </a:solidFill>
                          <a:latin typeface="Calibri" pitchFamily="34" charset="0"/>
                          <a:ea typeface="Calibri" pitchFamily="34" charset="-122"/>
                          <a:cs typeface="Calibri" pitchFamily="34" charset="-120"/>
                        </a:rPr>
                        <a:t>namdp-ptit/ViRanker</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XLM-R, tinh chỉnh tiếng Việt</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b="1" dirty="0">
                          <a:solidFill>
                            <a:srgbClr val="16233D"/>
                          </a:solidFill>
                          <a:latin typeface="Calibri" pitchFamily="34" charset="0"/>
                          <a:ea typeface="Calibri" pitchFamily="34" charset="-122"/>
                          <a:cs typeface="Calibri" pitchFamily="34" charset="-120"/>
                        </a:rPr>
                        <a:t>0,568B</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0,3917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b="1" dirty="0">
                          <a:solidFill>
                            <a:srgbClr val="A6202B"/>
                          </a:solidFill>
                          <a:latin typeface="Calibri" pitchFamily="34" charset="0"/>
                          <a:ea typeface="Calibri" pitchFamily="34" charset="-122"/>
                          <a:cs typeface="Calibri" pitchFamily="34" charset="-120"/>
                        </a:rPr>
                        <a:t>0,6867</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0,5182</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0,106</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r h="402336">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ms-marco-MiniLM-L6  (đối chứng ÂM)</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BERT tiếng Anh</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0,023B</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0,3233</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0,5633</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0,4421</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c>
                  <a:txBody>
                    <a:bodyPr/>
                    <a:lstStyle/>
                    <a:p>
                      <a:pPr indent="0" marL="0">
                        <a:buNone/>
                      </a:pPr>
                      <a:r>
                        <a:rPr lang="en-US" sz="1100" dirty="0">
                          <a:solidFill>
                            <a:srgbClr val="16233D"/>
                          </a:solidFill>
                          <a:latin typeface="Calibri" pitchFamily="34" charset="0"/>
                          <a:ea typeface="Calibri" pitchFamily="34" charset="-122"/>
                          <a:cs typeface="Calibri" pitchFamily="34" charset="-120"/>
                        </a:rPr>
                        <a:t>0,005</a:t>
                      </a:r>
                      <a:endParaRPr lang="en-US" sz="1100" dirty="0">
                        <a:latin typeface="Calibri" charset="0"/>
                        <a:ea typeface="Calibri" charset="0"/>
                        <a:cs typeface="Calibri" charset="0"/>
                      </a:endParaRPr>
                    </a:p>
                  </a:txBody>
                  <a:tcPr marL="91440" marR="91440" marT="45720" marB="45720" anchor="ctr">
                    <a:lnL w="6350" cap="flat" cmpd="sng" algn="ctr">
                      <a:solidFill>
                        <a:srgbClr val="C9D2DF"/>
                      </a:solidFill>
                      <a:prstDash val="solid"/>
                      <a:round/>
                      <a:headEnd type="none" w="med" len="med"/>
                      <a:tailEnd type="none" w="med" len="med"/>
                    </a:lnL>
                    <a:lnR w="6350" cap="flat" cmpd="sng" algn="ctr">
                      <a:solidFill>
                        <a:srgbClr val="C9D2DF"/>
                      </a:solidFill>
                      <a:prstDash val="solid"/>
                      <a:round/>
                      <a:headEnd type="none" w="med" len="med"/>
                      <a:tailEnd type="none" w="med" len="med"/>
                    </a:lnR>
                    <a:lnT w="6350" cap="flat" cmpd="sng" algn="ctr">
                      <a:solidFill>
                        <a:srgbClr val="C9D2DF"/>
                      </a:solidFill>
                      <a:prstDash val="solid"/>
                      <a:round/>
                      <a:headEnd type="none" w="med" len="med"/>
                      <a:tailEnd type="none" w="med" len="med"/>
                    </a:lnT>
                    <a:lnB w="6350" cap="flat" cmpd="sng" algn="ctr">
                      <a:solidFill>
                        <a:srgbClr val="C9D2DF"/>
                      </a:solidFill>
                      <a:prstDash val="solid"/>
                      <a:round/>
                      <a:headEnd type="none" w="med" len="med"/>
                      <a:tailEnd type="none" w="med" len="med"/>
                    </a:lnB>
                  </a:tcPr>
                </a:tc>
              </a:tr>
            </a:tbl>
          </a:graphicData>
        </a:graphic>
      </p:graphicFrame>
      <p:sp>
        <p:nvSpPr>
          <p:cNvPr id="5" name="Shape 2"/>
          <p:cNvSpPr/>
          <p:nvPr/>
        </p:nvSpPr>
        <p:spPr>
          <a:xfrm>
            <a:off x="640080" y="4709160"/>
            <a:ext cx="5349240" cy="1645920"/>
          </a:xfrm>
          <a:prstGeom prst="roundRect">
            <a:avLst>
              <a:gd name="adj" fmla="val 4444"/>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6" name="Text 3"/>
          <p:cNvSpPr txBox="1"/>
          <p:nvPr/>
        </p:nvSpPr>
        <p:spPr>
          <a:xfrm>
            <a:off x="877824" y="4892040"/>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Số tham số KHÔNG dự đoán chất lượng</a:t>
            </a:r>
            <a:endParaRPr lang="en-US" sz="1500" dirty="0"/>
          </a:p>
        </p:txBody>
      </p:sp>
      <p:sp>
        <p:nvSpPr>
          <p:cNvPr id="7" name="Text 4"/>
          <p:cNvSpPr txBox="1"/>
          <p:nvPr/>
        </p:nvSpPr>
        <p:spPr>
          <a:xfrm>
            <a:off x="877824" y="5312664"/>
            <a:ext cx="4892040" cy="85953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mMiniLMv2 (0,118B) hơn ViRanker (0,568B) tới +3,50 điểm R@5 — dù nhỏ hơn 4,8 lần và nhanh hơn 16 lần. Thứ quyết định là dữ liệu huấn luyện tiếng Việt/pháp lý.</a:t>
            </a:r>
            <a:endParaRPr lang="en-US" sz="1250" dirty="0"/>
          </a:p>
        </p:txBody>
      </p:sp>
      <p:sp>
        <p:nvSpPr>
          <p:cNvPr id="8" name="Shape 5"/>
          <p:cNvSpPr/>
          <p:nvPr/>
        </p:nvSpPr>
        <p:spPr>
          <a:xfrm>
            <a:off x="6172200" y="4709160"/>
            <a:ext cx="5349240" cy="1645920"/>
          </a:xfrm>
          <a:prstGeom prst="roundRect">
            <a:avLst>
              <a:gd name="adj" fmla="val 4444"/>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9" name="Text 6"/>
          <p:cNvSpPr txBox="1"/>
          <p:nvPr/>
        </p:nvSpPr>
        <p:spPr>
          <a:xfrm>
            <a:off x="6409944" y="4892040"/>
            <a:ext cx="4892040" cy="384048"/>
          </a:xfrm>
          <a:prstGeom prst="rect">
            <a:avLst/>
          </a:prstGeom>
          <a:noFill/>
          <a:ln/>
        </p:spPr>
        <p:txBody>
          <a:bodyPr wrap="square" lIns="0" tIns="0" rIns="0" bIns="0" rtlCol="0" anchor="ctr"/>
          <a:lstStyle/>
          <a:p>
            <a:pPr indent="0" marL="0">
              <a:buNone/>
            </a:pPr>
            <a:r>
              <a:rPr lang="en-US" sz="1500" b="1" dirty="0">
                <a:solidFill>
                  <a:srgbClr val="16233D"/>
                </a:solidFill>
                <a:latin typeface="Calibri" pitchFamily="34" charset="0"/>
                <a:ea typeface="Calibri" pitchFamily="34" charset="-122"/>
                <a:cs typeface="Calibri" pitchFamily="34" charset="-120"/>
              </a:rPr>
              <a:t>Đối chứng âm hoạt động đúng</a:t>
            </a:r>
            <a:endParaRPr lang="en-US" sz="1500" dirty="0"/>
          </a:p>
        </p:txBody>
      </p:sp>
      <p:sp>
        <p:nvSpPr>
          <p:cNvPr id="10" name="Text 7"/>
          <p:cNvSpPr txBox="1"/>
          <p:nvPr/>
        </p:nvSpPr>
        <p:spPr>
          <a:xfrm>
            <a:off x="6409944" y="5312664"/>
            <a:ext cx="4892040" cy="859536"/>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Model BERT tiếng Anh thuần rơi xuống 0,5633 — cách nhóm dẫn đầu 18,8 điểm. Bảng đang đo năng lực tiếng Việt, không phải nhiễu.</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A6202B"/>
                </a:solidFill>
                <a:latin typeface="Calibri" pitchFamily="34" charset="0"/>
                <a:ea typeface="Calibri" pitchFamily="34" charset="-122"/>
                <a:cs typeface="Calibri" pitchFamily="34" charset="-120"/>
              </a:rPr>
              <a:t>PHẠM VI THÍ NGHIỆM</a:t>
            </a:r>
            <a:endParaRPr lang="en-US" sz="12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6233D"/>
                </a:solidFill>
                <a:latin typeface="Times New Roman" pitchFamily="34" charset="0"/>
                <a:ea typeface="Times New Roman" pitchFamily="34" charset="-122"/>
                <a:cs typeface="Times New Roman" pitchFamily="34" charset="-120"/>
              </a:rPr>
              <a:t>32 phương án · 10 sống sót</a:t>
            </a:r>
            <a:endParaRPr lang="en-US" sz="3400" dirty="0"/>
          </a:p>
        </p:txBody>
      </p:sp>
      <p:sp>
        <p:nvSpPr>
          <p:cNvPr id="4" name="Shape 2"/>
          <p:cNvSpPr/>
          <p:nvPr/>
        </p:nvSpPr>
        <p:spPr>
          <a:xfrm>
            <a:off x="640080" y="1627632"/>
            <a:ext cx="5349240" cy="1078992"/>
          </a:xfrm>
          <a:prstGeom prst="roundRect">
            <a:avLst>
              <a:gd name="adj" fmla="val 6780"/>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5" name="Text 3"/>
          <p:cNvSpPr txBox="1"/>
          <p:nvPr/>
        </p:nvSpPr>
        <p:spPr>
          <a:xfrm>
            <a:off x="877824" y="1810512"/>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Full Fine-Tuning  ×2</a:t>
            </a:r>
            <a:endParaRPr lang="en-US" sz="1500" dirty="0"/>
          </a:p>
        </p:txBody>
      </p:sp>
      <p:sp>
        <p:nvSpPr>
          <p:cNvPr id="6" name="Text 4"/>
          <p:cNvSpPr txBox="1"/>
          <p:nvPr/>
        </p:nvSpPr>
        <p:spPr>
          <a:xfrm>
            <a:off x="877824" y="2231136"/>
            <a:ext cx="4892040" cy="292608"/>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−0,50 rồi −6,50 — hard negative quá khó</a:t>
            </a:r>
            <a:endParaRPr lang="en-US" sz="1250" dirty="0"/>
          </a:p>
        </p:txBody>
      </p:sp>
      <p:sp>
        <p:nvSpPr>
          <p:cNvPr id="7" name="Shape 5"/>
          <p:cNvSpPr/>
          <p:nvPr/>
        </p:nvSpPr>
        <p:spPr>
          <a:xfrm>
            <a:off x="6172200" y="1627632"/>
            <a:ext cx="5349240" cy="1078992"/>
          </a:xfrm>
          <a:prstGeom prst="roundRect">
            <a:avLst>
              <a:gd name="adj" fmla="val 6780"/>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8" name="Text 6"/>
          <p:cNvSpPr txBox="1"/>
          <p:nvPr/>
        </p:nvSpPr>
        <p:spPr>
          <a:xfrm>
            <a:off x="6409944" y="1810512"/>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Knowledge Distillation</a:t>
            </a:r>
            <a:endParaRPr lang="en-US" sz="1500" dirty="0"/>
          </a:p>
        </p:txBody>
      </p:sp>
      <p:sp>
        <p:nvSpPr>
          <p:cNvPr id="9" name="Text 7"/>
          <p:cNvSpPr txBox="1"/>
          <p:nvPr/>
        </p:nvSpPr>
        <p:spPr>
          <a:xfrm>
            <a:off x="6409944" y="2231136"/>
            <a:ext cx="4892040" cy="292608"/>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ròng −16/600 — THẦY 8B thua TRÒ 0,568B</a:t>
            </a:r>
            <a:endParaRPr lang="en-US" sz="1250" dirty="0"/>
          </a:p>
        </p:txBody>
      </p:sp>
      <p:sp>
        <p:nvSpPr>
          <p:cNvPr id="10" name="Shape 8"/>
          <p:cNvSpPr/>
          <p:nvPr/>
        </p:nvSpPr>
        <p:spPr>
          <a:xfrm>
            <a:off x="640080" y="2816352"/>
            <a:ext cx="5349240" cy="1078992"/>
          </a:xfrm>
          <a:prstGeom prst="roundRect">
            <a:avLst>
              <a:gd name="adj" fmla="val 6780"/>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11" name="Text 9"/>
          <p:cNvSpPr txBox="1"/>
          <p:nvPr/>
        </p:nvSpPr>
        <p:spPr>
          <a:xfrm>
            <a:off x="877824" y="2999232"/>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Linear Probing</a:t>
            </a:r>
            <a:endParaRPr lang="en-US" sz="1500" dirty="0"/>
          </a:p>
        </p:txBody>
      </p:sp>
      <p:sp>
        <p:nvSpPr>
          <p:cNvPr id="12" name="Text 10"/>
          <p:cNvSpPr txBox="1"/>
          <p:nvPr/>
        </p:nvSpPr>
        <p:spPr>
          <a:xfrm>
            <a:off x="877824" y="3419856"/>
            <a:ext cx="4892040" cy="292608"/>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+0,67 nhưng 18 câu sai vẫn y nguyên 18 câu</a:t>
            </a:r>
            <a:endParaRPr lang="en-US" sz="1250" dirty="0"/>
          </a:p>
        </p:txBody>
      </p:sp>
      <p:sp>
        <p:nvSpPr>
          <p:cNvPr id="13" name="Shape 11"/>
          <p:cNvSpPr/>
          <p:nvPr/>
        </p:nvSpPr>
        <p:spPr>
          <a:xfrm>
            <a:off x="6172200" y="2816352"/>
            <a:ext cx="5349240" cy="1078992"/>
          </a:xfrm>
          <a:prstGeom prst="roundRect">
            <a:avLst>
              <a:gd name="adj" fmla="val 6780"/>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14" name="Text 12"/>
          <p:cNvSpPr txBox="1"/>
          <p:nvPr/>
        </p:nvSpPr>
        <p:spPr>
          <a:xfrm>
            <a:off x="6409944" y="2999232"/>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LoRA / PEFT</a:t>
            </a:r>
            <a:endParaRPr lang="en-US" sz="1500" dirty="0"/>
          </a:p>
        </p:txBody>
      </p:sp>
      <p:sp>
        <p:nvSpPr>
          <p:cNvPr id="15" name="Text 13"/>
          <p:cNvSpPr txBox="1"/>
          <p:nvPr/>
        </p:nvSpPr>
        <p:spPr>
          <a:xfrm>
            <a:off x="6409944" y="3419856"/>
            <a:ext cx="4892040" cy="292608"/>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chưa chạy — đo trước thấy dưới ngưỡng, cắt</a:t>
            </a:r>
            <a:endParaRPr lang="en-US" sz="1250" dirty="0"/>
          </a:p>
        </p:txBody>
      </p:sp>
      <p:sp>
        <p:nvSpPr>
          <p:cNvPr id="16" name="Shape 14"/>
          <p:cNvSpPr/>
          <p:nvPr/>
        </p:nvSpPr>
        <p:spPr>
          <a:xfrm>
            <a:off x="640080" y="4005072"/>
            <a:ext cx="5349240" cy="1078992"/>
          </a:xfrm>
          <a:prstGeom prst="roundRect">
            <a:avLst>
              <a:gd name="adj" fmla="val 6780"/>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17" name="Text 15"/>
          <p:cNvSpPr txBox="1"/>
          <p:nvPr/>
        </p:nvSpPr>
        <p:spPr>
          <a:xfrm>
            <a:off x="877824" y="4187952"/>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Model Ensembling (RRF)</a:t>
            </a:r>
            <a:endParaRPr lang="en-US" sz="1500" dirty="0"/>
          </a:p>
        </p:txBody>
      </p:sp>
      <p:sp>
        <p:nvSpPr>
          <p:cNvPr id="18" name="Text 16"/>
          <p:cNvSpPr txBox="1"/>
          <p:nvPr/>
        </p:nvSpPr>
        <p:spPr>
          <a:xfrm>
            <a:off x="877824" y="4608576"/>
            <a:ext cx="4892040" cy="292608"/>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tầng 1 +4,00 ảo — 19/19 câu đã đúng sẵn</a:t>
            </a:r>
            <a:endParaRPr lang="en-US" sz="1250" dirty="0"/>
          </a:p>
        </p:txBody>
      </p:sp>
      <p:sp>
        <p:nvSpPr>
          <p:cNvPr id="19" name="Shape 17"/>
          <p:cNvSpPr/>
          <p:nvPr/>
        </p:nvSpPr>
        <p:spPr>
          <a:xfrm>
            <a:off x="6172200" y="4005072"/>
            <a:ext cx="5349240" cy="1078992"/>
          </a:xfrm>
          <a:prstGeom prst="roundRect">
            <a:avLst>
              <a:gd name="adj" fmla="val 6780"/>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20" name="Text 18"/>
          <p:cNvSpPr txBox="1"/>
          <p:nvPr/>
        </p:nvSpPr>
        <p:spPr>
          <a:xfrm>
            <a:off x="6409944" y="4187952"/>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Score-Level Fusion</a:t>
            </a:r>
            <a:endParaRPr lang="en-US" sz="1500" dirty="0"/>
          </a:p>
        </p:txBody>
      </p:sp>
      <p:sp>
        <p:nvSpPr>
          <p:cNvPr id="21" name="Text 19"/>
          <p:cNvSpPr txBox="1"/>
          <p:nvPr/>
        </p:nvSpPr>
        <p:spPr>
          <a:xfrm>
            <a:off x="6409944" y="4608576"/>
            <a:ext cx="4892040" cy="292608"/>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thua giữ chỗ ở mọi tham số</a:t>
            </a:r>
            <a:endParaRPr lang="en-US" sz="1250" dirty="0"/>
          </a:p>
        </p:txBody>
      </p:sp>
      <p:sp>
        <p:nvSpPr>
          <p:cNvPr id="22" name="Shape 20"/>
          <p:cNvSpPr/>
          <p:nvPr/>
        </p:nvSpPr>
        <p:spPr>
          <a:xfrm>
            <a:off x="640080" y="5193792"/>
            <a:ext cx="5349240" cy="1078992"/>
          </a:xfrm>
          <a:prstGeom prst="roundRect">
            <a:avLst>
              <a:gd name="adj" fmla="val 6780"/>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23" name="Text 21"/>
          <p:cNvSpPr txBox="1"/>
          <p:nvPr/>
        </p:nvSpPr>
        <p:spPr>
          <a:xfrm>
            <a:off x="877824" y="5376672"/>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Query Expansion (ghép tiêu đề)</a:t>
            </a:r>
            <a:endParaRPr lang="en-US" sz="1500" dirty="0"/>
          </a:p>
        </p:txBody>
      </p:sp>
      <p:sp>
        <p:nvSpPr>
          <p:cNvPr id="24" name="Text 22"/>
          <p:cNvSpPr txBox="1"/>
          <p:nvPr/>
        </p:nvSpPr>
        <p:spPr>
          <a:xfrm>
            <a:off x="877824" y="5797296"/>
            <a:ext cx="4892040" cy="292608"/>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+1,00 nhưng 83% trùng tín hiệu đã có</a:t>
            </a:r>
            <a:endParaRPr lang="en-US" sz="1250" dirty="0"/>
          </a:p>
        </p:txBody>
      </p:sp>
      <p:sp>
        <p:nvSpPr>
          <p:cNvPr id="25" name="Shape 23"/>
          <p:cNvSpPr/>
          <p:nvPr/>
        </p:nvSpPr>
        <p:spPr>
          <a:xfrm>
            <a:off x="6172200" y="5193792"/>
            <a:ext cx="5349240" cy="1078992"/>
          </a:xfrm>
          <a:prstGeom prst="roundRect">
            <a:avLst>
              <a:gd name="adj" fmla="val 6780"/>
            </a:avLst>
          </a:prstGeom>
          <a:solidFill>
            <a:srgbClr val="FFFFFF"/>
          </a:solidFill>
          <a:ln w="9525">
            <a:solidFill>
              <a:srgbClr val="C9D2DF"/>
            </a:solidFill>
            <a:prstDash val="solid"/>
          </a:ln>
          <a:effectLst>
            <a:outerShdw sx="100000" sy="100000" kx="0" ky="0" algn="bl" rotWithShape="0" blurRad="101600" dist="12700" dir="5400000">
              <a:srgbClr val="8899AA">
                <a:alpha val="18000"/>
              </a:srgbClr>
            </a:outerShdw>
          </a:effectLst>
        </p:spPr>
      </p:sp>
      <p:sp>
        <p:nvSpPr>
          <p:cNvPr id="26" name="Text 24"/>
          <p:cNvSpPr txBox="1"/>
          <p:nvPr/>
        </p:nvSpPr>
        <p:spPr>
          <a:xfrm>
            <a:off x="6409944" y="5376672"/>
            <a:ext cx="4892040" cy="384048"/>
          </a:xfrm>
          <a:prstGeom prst="rect">
            <a:avLst/>
          </a:prstGeom>
          <a:noFill/>
          <a:ln/>
        </p:spPr>
        <p:txBody>
          <a:bodyPr wrap="square" lIns="0" tIns="0" rIns="0" bIns="0" rtlCol="0" anchor="ctr"/>
          <a:lstStyle/>
          <a:p>
            <a:pPr indent="0" marL="0">
              <a:buNone/>
            </a:pPr>
            <a:r>
              <a:rPr lang="en-US" sz="1500" b="1" dirty="0">
                <a:solidFill>
                  <a:srgbClr val="A6202B"/>
                </a:solidFill>
                <a:latin typeface="Calibri" pitchFamily="34" charset="0"/>
                <a:ea typeface="Calibri" pitchFamily="34" charset="-122"/>
                <a:cs typeface="Calibri" pitchFamily="34" charset="-120"/>
              </a:rPr>
              <a:t>Metadata Priors (thẩm quyền, năm)</a:t>
            </a:r>
            <a:endParaRPr lang="en-US" sz="1500" dirty="0"/>
          </a:p>
        </p:txBody>
      </p:sp>
      <p:sp>
        <p:nvSpPr>
          <p:cNvPr id="27" name="Text 25"/>
          <p:cNvSpPr txBox="1"/>
          <p:nvPr/>
        </p:nvSpPr>
        <p:spPr>
          <a:xfrm>
            <a:off x="6409944" y="5797296"/>
            <a:ext cx="4892040" cy="292608"/>
          </a:xfrm>
          <a:prstGeom prst="rect">
            <a:avLst/>
          </a:prstGeom>
          <a:noFill/>
          <a:ln/>
        </p:spPr>
        <p:txBody>
          <a:bodyPr wrap="square" lIns="0" tIns="0" rIns="0" bIns="0" rtlCol="0" anchor="ctr"/>
          <a:lstStyle/>
          <a:p>
            <a:pPr indent="0" marL="0">
              <a:lnSpc>
                <a:spcPts val="1700"/>
              </a:lnSpc>
              <a:buNone/>
            </a:pPr>
            <a:r>
              <a:rPr lang="en-US" sz="1250" dirty="0">
                <a:solidFill>
                  <a:srgbClr val="2C3E63"/>
                </a:solidFill>
                <a:latin typeface="Calibri" pitchFamily="34" charset="0"/>
                <a:ea typeface="Calibri" pitchFamily="34" charset="-122"/>
                <a:cs typeface="Calibri" pitchFamily="34" charset="-120"/>
              </a:rPr>
              <a:t>âm, kể cả khi ước tham số ngay trên dev</a:t>
            </a:r>
            <a:endParaRPr lang="en-US" sz="1250" dirty="0"/>
          </a:p>
        </p:txBody>
      </p:sp>
      <p:sp>
        <p:nvSpPr>
          <p:cNvPr id="28" name="Text 26"/>
          <p:cNvSpPr txBox="1"/>
          <p:nvPr/>
        </p:nvSpPr>
        <p:spPr>
          <a:xfrm>
            <a:off x="640080" y="6355080"/>
            <a:ext cx="10881360" cy="320040"/>
          </a:xfrm>
          <a:prstGeom prst="rect">
            <a:avLst/>
          </a:prstGeom>
          <a:noFill/>
          <a:ln/>
        </p:spPr>
        <p:txBody>
          <a:bodyPr wrap="square" lIns="0" tIns="0" rIns="0" bIns="0" rtlCol="0" anchor="ctr"/>
          <a:lstStyle/>
          <a:p>
            <a:pPr indent="0" marL="0">
              <a:buNone/>
            </a:pPr>
            <a:r>
              <a:rPr lang="en-US" sz="1200" i="1" dirty="0">
                <a:solidFill>
                  <a:srgbClr val="60708A"/>
                </a:solidFill>
                <a:latin typeface="Calibri" pitchFamily="34" charset="0"/>
                <a:ea typeface="Calibri" pitchFamily="34" charset="-122"/>
                <a:cs typeface="Calibri" pitchFamily="34" charset="-120"/>
              </a:rPr>
              <a:t>Mỗi dòng là một phép đo đã trả tiền bằng giờ GPU. Danh mục đầy đủ 32 phương án nằm trong báo cáo tóm tắt.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A6202B"/>
                </a:solidFill>
                <a:latin typeface="Calibri" pitchFamily="34" charset="0"/>
                <a:ea typeface="Calibri" pitchFamily="34" charset="-122"/>
                <a:cs typeface="Calibri" pitchFamily="34" charset="-120"/>
              </a:rPr>
              <a:t>PHƯƠNG PHÁP</a:t>
            </a:r>
            <a:endParaRPr lang="en-US" sz="12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6233D"/>
                </a:solidFill>
                <a:latin typeface="Times New Roman" pitchFamily="34" charset="0"/>
                <a:ea typeface="Times New Roman" pitchFamily="34" charset="-122"/>
                <a:cs typeface="Times New Roman" pitchFamily="34" charset="-120"/>
              </a:rPr>
              <a:t>Kỷ luật thực nghiệm — đã cứu ~21 giờ GPU</a:t>
            </a:r>
            <a:endParaRPr lang="en-US" sz="3400" dirty="0"/>
          </a:p>
        </p:txBody>
      </p:sp>
      <p:sp>
        <p:nvSpPr>
          <p:cNvPr id="4" name="Shape 2"/>
          <p:cNvSpPr/>
          <p:nvPr/>
        </p:nvSpPr>
        <p:spPr>
          <a:xfrm>
            <a:off x="640080" y="1609344"/>
            <a:ext cx="10881360" cy="1042416"/>
          </a:xfrm>
          <a:prstGeom prst="roundRect">
            <a:avLst>
              <a:gd name="adj" fmla="val 5263"/>
            </a:avLst>
          </a:prstGeom>
          <a:solidFill>
            <a:srgbClr val="FFFFFF"/>
          </a:solidFill>
          <a:ln w="9525">
            <a:solidFill>
              <a:srgbClr val="C9D2DF"/>
            </a:solidFill>
            <a:prstDash val="solid"/>
          </a:ln>
        </p:spPr>
      </p:sp>
      <p:sp>
        <p:nvSpPr>
          <p:cNvPr id="5" name="Text 3"/>
          <p:cNvSpPr txBox="1"/>
          <p:nvPr/>
        </p:nvSpPr>
        <p:spPr>
          <a:xfrm>
            <a:off x="914400" y="1755648"/>
            <a:ext cx="3931920" cy="365760"/>
          </a:xfrm>
          <a:prstGeom prst="rect">
            <a:avLst/>
          </a:prstGeom>
          <a:noFill/>
          <a:ln/>
        </p:spPr>
        <p:txBody>
          <a:bodyPr wrap="square" lIns="0" tIns="0" rIns="0" bIns="0" rtlCol="0" anchor="ctr"/>
          <a:lstStyle/>
          <a:p>
            <a:pPr indent="0" marL="0">
              <a:buNone/>
            </a:pPr>
            <a:r>
              <a:rPr lang="en-US" sz="1500" b="1" dirty="0">
                <a:solidFill>
                  <a:srgbClr val="16233D"/>
                </a:solidFill>
                <a:latin typeface="Calibri" pitchFamily="34" charset="0"/>
                <a:ea typeface="Calibri" pitchFamily="34" charset="-122"/>
                <a:cs typeface="Calibri" pitchFamily="34" charset="-120"/>
              </a:rPr>
              <a:t>Pre-Registered Gates</a:t>
            </a:r>
            <a:endParaRPr lang="en-US" sz="1500" dirty="0"/>
          </a:p>
        </p:txBody>
      </p:sp>
      <p:sp>
        <p:nvSpPr>
          <p:cNvPr id="6" name="Text 4"/>
          <p:cNvSpPr txBox="1"/>
          <p:nvPr/>
        </p:nvSpPr>
        <p:spPr>
          <a:xfrm>
            <a:off x="914400" y="2121408"/>
            <a:ext cx="7772400" cy="548640"/>
          </a:xfrm>
          <a:prstGeom prst="rect">
            <a:avLst/>
          </a:prstGeom>
          <a:noFill/>
          <a:ln/>
        </p:spPr>
        <p:txBody>
          <a:bodyPr wrap="square" lIns="0" tIns="0" rIns="0" bIns="0" rtlCol="0" anchor="ctr"/>
          <a:lstStyle/>
          <a:p>
            <a:pPr indent="0" marL="0">
              <a:buNone/>
            </a:pPr>
            <a:r>
              <a:rPr lang="en-US" sz="1200" dirty="0">
                <a:solidFill>
                  <a:srgbClr val="2C3E63"/>
                </a:solidFill>
                <a:latin typeface="Calibri" pitchFamily="34" charset="0"/>
                <a:ea typeface="Calibri" pitchFamily="34" charset="-122"/>
                <a:cs typeface="Calibri" pitchFamily="34" charset="-120"/>
              </a:rPr>
              <a:t>Viết ra "đo được X thì làm Y" TRƯỚC khi bấm chạy, để kết quả không bị đọc theo hướng có lợi cho công sức đã bỏ.</a:t>
            </a:r>
            <a:endParaRPr lang="en-US" sz="1200" dirty="0"/>
          </a:p>
        </p:txBody>
      </p:sp>
      <p:sp>
        <p:nvSpPr>
          <p:cNvPr id="7" name="Shape 5"/>
          <p:cNvSpPr/>
          <p:nvPr/>
        </p:nvSpPr>
        <p:spPr>
          <a:xfrm>
            <a:off x="9006840" y="1865376"/>
            <a:ext cx="2286000" cy="603504"/>
          </a:xfrm>
          <a:prstGeom prst="roundRect">
            <a:avLst>
              <a:gd name="adj" fmla="val 9091"/>
            </a:avLst>
          </a:prstGeom>
          <a:solidFill>
            <a:srgbClr val="EEF1F6"/>
          </a:solidFill>
          <a:ln w="9525">
            <a:solidFill>
              <a:srgbClr val="C9D2DF"/>
            </a:solidFill>
            <a:prstDash val="solid"/>
          </a:ln>
        </p:spPr>
      </p:sp>
      <p:sp>
        <p:nvSpPr>
          <p:cNvPr id="8" name="Text 6"/>
          <p:cNvSpPr txBox="1"/>
          <p:nvPr/>
        </p:nvSpPr>
        <p:spPr>
          <a:xfrm>
            <a:off x="9006840" y="1993392"/>
            <a:ext cx="2286000" cy="365760"/>
          </a:xfrm>
          <a:prstGeom prst="rect">
            <a:avLst/>
          </a:prstGeom>
          <a:noFill/>
          <a:ln/>
        </p:spPr>
        <p:txBody>
          <a:bodyPr wrap="square" lIns="0" tIns="0" rIns="0" bIns="0" rtlCol="0" anchor="ctr"/>
          <a:lstStyle/>
          <a:p>
            <a:pPr algn="ctr" indent="0" marL="0">
              <a:buNone/>
            </a:pPr>
            <a:r>
              <a:rPr lang="en-US" sz="1500" b="1" dirty="0">
                <a:solidFill>
                  <a:srgbClr val="2E6A5A"/>
                </a:solidFill>
                <a:latin typeface="Times New Roman" pitchFamily="34" charset="0"/>
                <a:ea typeface="Times New Roman" pitchFamily="34" charset="-122"/>
                <a:cs typeface="Times New Roman" pitchFamily="34" charset="-120"/>
              </a:rPr>
              <a:t>18 h</a:t>
            </a:r>
            <a:endParaRPr lang="en-US" sz="1500" dirty="0"/>
          </a:p>
        </p:txBody>
      </p:sp>
      <p:sp>
        <p:nvSpPr>
          <p:cNvPr id="9" name="Shape 7"/>
          <p:cNvSpPr/>
          <p:nvPr/>
        </p:nvSpPr>
        <p:spPr>
          <a:xfrm>
            <a:off x="640080" y="2747772"/>
            <a:ext cx="10881360" cy="1042416"/>
          </a:xfrm>
          <a:prstGeom prst="roundRect">
            <a:avLst>
              <a:gd name="adj" fmla="val 5263"/>
            </a:avLst>
          </a:prstGeom>
          <a:solidFill>
            <a:srgbClr val="FFFFFF"/>
          </a:solidFill>
          <a:ln w="9525">
            <a:solidFill>
              <a:srgbClr val="C9D2DF"/>
            </a:solidFill>
            <a:prstDash val="solid"/>
          </a:ln>
        </p:spPr>
      </p:sp>
      <p:sp>
        <p:nvSpPr>
          <p:cNvPr id="10" name="Text 8"/>
          <p:cNvSpPr txBox="1"/>
          <p:nvPr/>
        </p:nvSpPr>
        <p:spPr>
          <a:xfrm>
            <a:off x="914400" y="2894076"/>
            <a:ext cx="3931920" cy="365760"/>
          </a:xfrm>
          <a:prstGeom prst="rect">
            <a:avLst/>
          </a:prstGeom>
          <a:noFill/>
          <a:ln/>
        </p:spPr>
        <p:txBody>
          <a:bodyPr wrap="square" lIns="0" tIns="0" rIns="0" bIns="0" rtlCol="0" anchor="ctr"/>
          <a:lstStyle/>
          <a:p>
            <a:pPr indent="0" marL="0">
              <a:buNone/>
            </a:pPr>
            <a:r>
              <a:rPr lang="en-US" sz="1500" b="1" dirty="0">
                <a:solidFill>
                  <a:srgbClr val="16233D"/>
                </a:solidFill>
                <a:latin typeface="Calibri" pitchFamily="34" charset="0"/>
                <a:ea typeface="Calibri" pitchFamily="34" charset="-122"/>
                <a:cs typeface="Calibri" pitchFamily="34" charset="-120"/>
              </a:rPr>
              <a:t>Oracle Ceiling Analysis</a:t>
            </a:r>
            <a:endParaRPr lang="en-US" sz="1500" dirty="0"/>
          </a:p>
        </p:txBody>
      </p:sp>
      <p:sp>
        <p:nvSpPr>
          <p:cNvPr id="11" name="Text 9"/>
          <p:cNvSpPr txBox="1"/>
          <p:nvPr/>
        </p:nvSpPr>
        <p:spPr>
          <a:xfrm>
            <a:off x="914400" y="3259836"/>
            <a:ext cx="7772400" cy="548640"/>
          </a:xfrm>
          <a:prstGeom prst="rect">
            <a:avLst/>
          </a:prstGeom>
          <a:noFill/>
          <a:ln/>
        </p:spPr>
        <p:txBody>
          <a:bodyPr wrap="square" lIns="0" tIns="0" rIns="0" bIns="0" rtlCol="0" anchor="ctr"/>
          <a:lstStyle/>
          <a:p>
            <a:pPr indent="0" marL="0">
              <a:buNone/>
            </a:pPr>
            <a:r>
              <a:rPr lang="en-US" sz="1200" dirty="0">
                <a:solidFill>
                  <a:srgbClr val="2C3E63"/>
                </a:solidFill>
                <a:latin typeface="Calibri" pitchFamily="34" charset="0"/>
                <a:ea typeface="Calibri" pitchFamily="34" charset="-122"/>
                <a:cs typeface="Calibri" pitchFamily="34" charset="-120"/>
              </a:rPr>
              <a:t>Đo trần tuyệt đối của một hướng trên CPU trong vài giây, trước khi tiêu giờ GPU cho nó.</a:t>
            </a:r>
            <a:endParaRPr lang="en-US" sz="1200" dirty="0"/>
          </a:p>
        </p:txBody>
      </p:sp>
      <p:sp>
        <p:nvSpPr>
          <p:cNvPr id="12" name="Shape 10"/>
          <p:cNvSpPr/>
          <p:nvPr/>
        </p:nvSpPr>
        <p:spPr>
          <a:xfrm>
            <a:off x="9006840" y="3003804"/>
            <a:ext cx="2286000" cy="603504"/>
          </a:xfrm>
          <a:prstGeom prst="roundRect">
            <a:avLst>
              <a:gd name="adj" fmla="val 9091"/>
            </a:avLst>
          </a:prstGeom>
          <a:solidFill>
            <a:srgbClr val="EEF1F6"/>
          </a:solidFill>
          <a:ln w="9525">
            <a:solidFill>
              <a:srgbClr val="C9D2DF"/>
            </a:solidFill>
            <a:prstDash val="solid"/>
          </a:ln>
        </p:spPr>
      </p:sp>
      <p:sp>
        <p:nvSpPr>
          <p:cNvPr id="13" name="Text 11"/>
          <p:cNvSpPr txBox="1"/>
          <p:nvPr/>
        </p:nvSpPr>
        <p:spPr>
          <a:xfrm>
            <a:off x="9006840" y="3131820"/>
            <a:ext cx="2286000" cy="365760"/>
          </a:xfrm>
          <a:prstGeom prst="rect">
            <a:avLst/>
          </a:prstGeom>
          <a:noFill/>
          <a:ln/>
        </p:spPr>
        <p:txBody>
          <a:bodyPr wrap="square" lIns="0" tIns="0" rIns="0" bIns="0" rtlCol="0" anchor="ctr"/>
          <a:lstStyle/>
          <a:p>
            <a:pPr algn="ctr" indent="0" marL="0">
              <a:buNone/>
            </a:pPr>
            <a:r>
              <a:rPr lang="en-US" sz="1500" b="1" dirty="0">
                <a:solidFill>
                  <a:srgbClr val="2E6A5A"/>
                </a:solidFill>
                <a:latin typeface="Times New Roman" pitchFamily="34" charset="0"/>
                <a:ea typeface="Times New Roman" pitchFamily="34" charset="-122"/>
                <a:cs typeface="Times New Roman" pitchFamily="34" charset="-120"/>
              </a:rPr>
              <a:t>3 h + nhánh LoRA</a:t>
            </a:r>
            <a:endParaRPr lang="en-US" sz="1500" dirty="0"/>
          </a:p>
        </p:txBody>
      </p:sp>
      <p:sp>
        <p:nvSpPr>
          <p:cNvPr id="14" name="Shape 12"/>
          <p:cNvSpPr/>
          <p:nvPr/>
        </p:nvSpPr>
        <p:spPr>
          <a:xfrm>
            <a:off x="640080" y="3886200"/>
            <a:ext cx="10881360" cy="1042416"/>
          </a:xfrm>
          <a:prstGeom prst="roundRect">
            <a:avLst>
              <a:gd name="adj" fmla="val 5263"/>
            </a:avLst>
          </a:prstGeom>
          <a:solidFill>
            <a:srgbClr val="FFFFFF"/>
          </a:solidFill>
          <a:ln w="9525">
            <a:solidFill>
              <a:srgbClr val="C9D2DF"/>
            </a:solidFill>
            <a:prstDash val="solid"/>
          </a:ln>
        </p:spPr>
      </p:sp>
      <p:sp>
        <p:nvSpPr>
          <p:cNvPr id="15" name="Text 13"/>
          <p:cNvSpPr txBox="1"/>
          <p:nvPr/>
        </p:nvSpPr>
        <p:spPr>
          <a:xfrm>
            <a:off x="914400" y="4032504"/>
            <a:ext cx="3931920" cy="365760"/>
          </a:xfrm>
          <a:prstGeom prst="rect">
            <a:avLst/>
          </a:prstGeom>
          <a:noFill/>
          <a:ln/>
        </p:spPr>
        <p:txBody>
          <a:bodyPr wrap="square" lIns="0" tIns="0" rIns="0" bIns="0" rtlCol="0" anchor="ctr"/>
          <a:lstStyle/>
          <a:p>
            <a:pPr indent="0" marL="0">
              <a:buNone/>
            </a:pPr>
            <a:r>
              <a:rPr lang="en-US" sz="1500" b="1" dirty="0">
                <a:solidFill>
                  <a:srgbClr val="16233D"/>
                </a:solidFill>
                <a:latin typeface="Calibri" pitchFamily="34" charset="0"/>
                <a:ea typeface="Calibri" pitchFamily="34" charset="-122"/>
                <a:cs typeface="Calibri" pitchFamily="34" charset="-120"/>
              </a:rPr>
              <a:t>Overlap Analysis</a:t>
            </a:r>
            <a:endParaRPr lang="en-US" sz="1500" dirty="0"/>
          </a:p>
        </p:txBody>
      </p:sp>
      <p:sp>
        <p:nvSpPr>
          <p:cNvPr id="16" name="Text 14"/>
          <p:cNvSpPr txBox="1"/>
          <p:nvPr/>
        </p:nvSpPr>
        <p:spPr>
          <a:xfrm>
            <a:off x="914400" y="4398264"/>
            <a:ext cx="7772400" cy="548640"/>
          </a:xfrm>
          <a:prstGeom prst="rect">
            <a:avLst/>
          </a:prstGeom>
          <a:noFill/>
          <a:ln/>
        </p:spPr>
        <p:txBody>
          <a:bodyPr wrap="square" lIns="0" tIns="0" rIns="0" bIns="0" rtlCol="0" anchor="ctr"/>
          <a:lstStyle/>
          <a:p>
            <a:pPr indent="0" marL="0">
              <a:buNone/>
            </a:pPr>
            <a:r>
              <a:rPr lang="en-US" sz="1200" dirty="0">
                <a:solidFill>
                  <a:srgbClr val="2C3E63"/>
                </a:solidFill>
                <a:latin typeface="Calibri" pitchFamily="34" charset="0"/>
                <a:ea typeface="Calibri" pitchFamily="34" charset="-122"/>
                <a:cs typeface="Calibri" pitchFamily="34" charset="-120"/>
              </a:rPr>
              <a:t>Kiểm chồng lấn trước khi cộng dồn: bốn "giải pháp" hoá ra sửa cùng một nhóm câu.</a:t>
            </a:r>
            <a:endParaRPr lang="en-US" sz="1200" dirty="0"/>
          </a:p>
        </p:txBody>
      </p:sp>
      <p:sp>
        <p:nvSpPr>
          <p:cNvPr id="17" name="Shape 15"/>
          <p:cNvSpPr/>
          <p:nvPr/>
        </p:nvSpPr>
        <p:spPr>
          <a:xfrm>
            <a:off x="9006840" y="4142232"/>
            <a:ext cx="2286000" cy="603504"/>
          </a:xfrm>
          <a:prstGeom prst="roundRect">
            <a:avLst>
              <a:gd name="adj" fmla="val 9091"/>
            </a:avLst>
          </a:prstGeom>
          <a:solidFill>
            <a:srgbClr val="EEF1F6"/>
          </a:solidFill>
          <a:ln w="9525">
            <a:solidFill>
              <a:srgbClr val="C9D2DF"/>
            </a:solidFill>
            <a:prstDash val="solid"/>
          </a:ln>
        </p:spPr>
      </p:sp>
      <p:sp>
        <p:nvSpPr>
          <p:cNvPr id="18" name="Text 16"/>
          <p:cNvSpPr txBox="1"/>
          <p:nvPr/>
        </p:nvSpPr>
        <p:spPr>
          <a:xfrm>
            <a:off x="9006840" y="4270248"/>
            <a:ext cx="2286000" cy="365760"/>
          </a:xfrm>
          <a:prstGeom prst="rect">
            <a:avLst/>
          </a:prstGeom>
          <a:noFill/>
          <a:ln/>
        </p:spPr>
        <p:txBody>
          <a:bodyPr wrap="square" lIns="0" tIns="0" rIns="0" bIns="0" rtlCol="0" anchor="ctr"/>
          <a:lstStyle/>
          <a:p>
            <a:pPr algn="ctr" indent="0" marL="0">
              <a:buNone/>
            </a:pPr>
            <a:r>
              <a:rPr lang="en-US" sz="1500" b="1" dirty="0">
                <a:solidFill>
                  <a:srgbClr val="2E6A5A"/>
                </a:solidFill>
                <a:latin typeface="Times New Roman" pitchFamily="34" charset="0"/>
                <a:ea typeface="Times New Roman" pitchFamily="34" charset="-122"/>
                <a:cs typeface="Times New Roman" pitchFamily="34" charset="-120"/>
              </a:rPr>
              <a:t>đóng 3 hướng</a:t>
            </a:r>
            <a:endParaRPr lang="en-US" sz="1500" dirty="0"/>
          </a:p>
        </p:txBody>
      </p:sp>
      <p:sp>
        <p:nvSpPr>
          <p:cNvPr id="19" name="Shape 17"/>
          <p:cNvSpPr/>
          <p:nvPr/>
        </p:nvSpPr>
        <p:spPr>
          <a:xfrm>
            <a:off x="640080" y="5024628"/>
            <a:ext cx="10881360" cy="1042416"/>
          </a:xfrm>
          <a:prstGeom prst="roundRect">
            <a:avLst>
              <a:gd name="adj" fmla="val 5263"/>
            </a:avLst>
          </a:prstGeom>
          <a:solidFill>
            <a:srgbClr val="FFFFFF"/>
          </a:solidFill>
          <a:ln w="9525">
            <a:solidFill>
              <a:srgbClr val="C9D2DF"/>
            </a:solidFill>
            <a:prstDash val="solid"/>
          </a:ln>
        </p:spPr>
      </p:sp>
      <p:sp>
        <p:nvSpPr>
          <p:cNvPr id="20" name="Text 18"/>
          <p:cNvSpPr txBox="1"/>
          <p:nvPr/>
        </p:nvSpPr>
        <p:spPr>
          <a:xfrm>
            <a:off x="914400" y="5170932"/>
            <a:ext cx="3931920" cy="365760"/>
          </a:xfrm>
          <a:prstGeom prst="rect">
            <a:avLst/>
          </a:prstGeom>
          <a:noFill/>
          <a:ln/>
        </p:spPr>
        <p:txBody>
          <a:bodyPr wrap="square" lIns="0" tIns="0" rIns="0" bIns="0" rtlCol="0" anchor="ctr"/>
          <a:lstStyle/>
          <a:p>
            <a:pPr indent="0" marL="0">
              <a:buNone/>
            </a:pPr>
            <a:r>
              <a:rPr lang="en-US" sz="1500" b="1" dirty="0">
                <a:solidFill>
                  <a:srgbClr val="16233D"/>
                </a:solidFill>
                <a:latin typeface="Calibri" pitchFamily="34" charset="0"/>
                <a:ea typeface="Calibri" pitchFamily="34" charset="-122"/>
                <a:cs typeface="Calibri" pitchFamily="34" charset="-120"/>
              </a:rPr>
              <a:t>McNemar Paired Test</a:t>
            </a:r>
            <a:endParaRPr lang="en-US" sz="1500" dirty="0"/>
          </a:p>
        </p:txBody>
      </p:sp>
      <p:sp>
        <p:nvSpPr>
          <p:cNvPr id="21" name="Text 19"/>
          <p:cNvSpPr txBox="1"/>
          <p:nvPr/>
        </p:nvSpPr>
        <p:spPr>
          <a:xfrm>
            <a:off x="914400" y="5536692"/>
            <a:ext cx="7772400" cy="548640"/>
          </a:xfrm>
          <a:prstGeom prst="rect">
            <a:avLst/>
          </a:prstGeom>
          <a:noFill/>
          <a:ln/>
        </p:spPr>
        <p:txBody>
          <a:bodyPr wrap="square" lIns="0" tIns="0" rIns="0" bIns="0" rtlCol="0" anchor="ctr"/>
          <a:lstStyle/>
          <a:p>
            <a:pPr indent="0" marL="0">
              <a:buNone/>
            </a:pPr>
            <a:r>
              <a:rPr lang="en-US" sz="1200" dirty="0">
                <a:solidFill>
                  <a:srgbClr val="2C3E63"/>
                </a:solidFill>
                <a:latin typeface="Calibri" pitchFamily="34" charset="0"/>
                <a:ea typeface="Calibri" pitchFamily="34" charset="-122"/>
                <a:cs typeface="Calibri" pitchFamily="34" charset="-120"/>
              </a:rPr>
              <a:t>So sánh ghép cặp thay vì hiệu hai số trung bình — cùng dữ liệu, mạnh hơn ~3 lần, 0 giờ GPU.</a:t>
            </a:r>
            <a:endParaRPr lang="en-US" sz="1200" dirty="0"/>
          </a:p>
        </p:txBody>
      </p:sp>
      <p:sp>
        <p:nvSpPr>
          <p:cNvPr id="22" name="Shape 20"/>
          <p:cNvSpPr/>
          <p:nvPr/>
        </p:nvSpPr>
        <p:spPr>
          <a:xfrm>
            <a:off x="9006840" y="5280660"/>
            <a:ext cx="2286000" cy="603504"/>
          </a:xfrm>
          <a:prstGeom prst="roundRect">
            <a:avLst>
              <a:gd name="adj" fmla="val 9091"/>
            </a:avLst>
          </a:prstGeom>
          <a:solidFill>
            <a:srgbClr val="EEF1F6"/>
          </a:solidFill>
          <a:ln w="9525">
            <a:solidFill>
              <a:srgbClr val="C9D2DF"/>
            </a:solidFill>
            <a:prstDash val="solid"/>
          </a:ln>
        </p:spPr>
      </p:sp>
      <p:sp>
        <p:nvSpPr>
          <p:cNvPr id="23" name="Text 21"/>
          <p:cNvSpPr txBox="1"/>
          <p:nvPr/>
        </p:nvSpPr>
        <p:spPr>
          <a:xfrm>
            <a:off x="9006840" y="5408676"/>
            <a:ext cx="2286000" cy="365760"/>
          </a:xfrm>
          <a:prstGeom prst="rect">
            <a:avLst/>
          </a:prstGeom>
          <a:noFill/>
          <a:ln/>
        </p:spPr>
        <p:txBody>
          <a:bodyPr wrap="square" lIns="0" tIns="0" rIns="0" bIns="0" rtlCol="0" anchor="ctr"/>
          <a:lstStyle/>
          <a:p>
            <a:pPr algn="ctr" indent="0" marL="0">
              <a:buNone/>
            </a:pPr>
            <a:r>
              <a:rPr lang="en-US" sz="1500" b="1" dirty="0">
                <a:solidFill>
                  <a:srgbClr val="2E6A5A"/>
                </a:solidFill>
                <a:latin typeface="Times New Roman" pitchFamily="34" charset="0"/>
                <a:ea typeface="Times New Roman" pitchFamily="34" charset="-122"/>
                <a:cs typeface="Times New Roman" pitchFamily="34" charset="-120"/>
              </a:rPr>
              <a:t>+3× độ nhạy</a:t>
            </a:r>
            <a:endParaRPr lang="en-US" sz="1500" dirty="0"/>
          </a:p>
        </p:txBody>
      </p:sp>
      <p:sp>
        <p:nvSpPr>
          <p:cNvPr id="24" name="Text 22"/>
          <p:cNvSpPr txBox="1"/>
          <p:nvPr/>
        </p:nvSpPr>
        <p:spPr>
          <a:xfrm>
            <a:off x="640080" y="6272784"/>
            <a:ext cx="10881360" cy="320040"/>
          </a:xfrm>
          <a:prstGeom prst="rect">
            <a:avLst/>
          </a:prstGeom>
          <a:noFill/>
          <a:ln/>
        </p:spPr>
        <p:txBody>
          <a:bodyPr wrap="square" lIns="0" tIns="0" rIns="0" bIns="0" rtlCol="0" anchor="ctr"/>
          <a:lstStyle/>
          <a:p>
            <a:pPr indent="0" marL="0">
              <a:buNone/>
            </a:pPr>
            <a:r>
              <a:rPr lang="en-US" sz="1200" i="1" dirty="0">
                <a:solidFill>
                  <a:srgbClr val="60708A"/>
                </a:solidFill>
                <a:latin typeface="Calibri" pitchFamily="34" charset="0"/>
                <a:ea typeface="Calibri" pitchFamily="34" charset="-122"/>
                <a:cs typeface="Calibri" pitchFamily="34" charset="-120"/>
              </a:rPr>
              <a:t>Nguyên tắc xuyên suốt: mọi phép đo in kèm một dòng "rổ trần, không chấm lại" — cấu hình đang đo còn thua dòng đó thì dừng.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33D"/>
        </a:solidFill>
      </p:bgPr>
    </p:bg>
    <p:spTree>
      <p:nvGrpSpPr>
        <p:cNvPr id="1" name=""/>
        <p:cNvGrpSpPr/>
        <p:nvPr/>
      </p:nvGrpSpPr>
      <p:grpSpPr>
        <a:xfrm>
          <a:off x="0" y="0"/>
          <a:ext cx="0" cy="0"/>
          <a:chOff x="0" y="0"/>
          <a:chExt cx="0" cy="0"/>
        </a:xfrm>
      </p:grpSpPr>
      <p:sp>
        <p:nvSpPr>
          <p:cNvPr id="2" name="Text 0"/>
          <p:cNvSpPr txBox="1"/>
          <p:nvPr/>
        </p:nvSpPr>
        <p:spPr>
          <a:xfrm>
            <a:off x="822960" y="731520"/>
            <a:ext cx="10515600" cy="320040"/>
          </a:xfrm>
          <a:prstGeom prst="rect">
            <a:avLst/>
          </a:prstGeom>
          <a:noFill/>
          <a:ln/>
        </p:spPr>
        <p:txBody>
          <a:bodyPr wrap="square" lIns="0" tIns="0" rIns="0" bIns="0" rtlCol="0" anchor="ctr"/>
          <a:lstStyle/>
          <a:p>
            <a:pPr indent="0" marL="0">
              <a:buNone/>
            </a:pPr>
            <a:r>
              <a:rPr lang="en-US" sz="1200" b="1" spc="250" kern="0" dirty="0">
                <a:solidFill>
                  <a:srgbClr val="E4909A"/>
                </a:solidFill>
                <a:latin typeface="Calibri" pitchFamily="34" charset="0"/>
                <a:ea typeface="Calibri" pitchFamily="34" charset="-122"/>
                <a:cs typeface="Calibri" pitchFamily="34" charset="-120"/>
              </a:rPr>
              <a:t>KẾT LUẬN</a:t>
            </a:r>
            <a:endParaRPr lang="en-US" sz="1200" dirty="0"/>
          </a:p>
        </p:txBody>
      </p:sp>
      <p:sp>
        <p:nvSpPr>
          <p:cNvPr id="3" name="Text 1"/>
          <p:cNvSpPr txBox="1"/>
          <p:nvPr/>
        </p:nvSpPr>
        <p:spPr>
          <a:xfrm>
            <a:off x="822960" y="1051560"/>
            <a:ext cx="10515600" cy="731520"/>
          </a:xfrm>
          <a:prstGeom prst="rect">
            <a:avLst/>
          </a:prstGeom>
          <a:noFill/>
          <a:ln/>
        </p:spPr>
        <p:txBody>
          <a:bodyPr wrap="square" lIns="0" tIns="0" rIns="0" bIns="0" rtlCol="0" anchor="ctr"/>
          <a:lstStyle/>
          <a:p>
            <a:pPr indent="0" marL="0">
              <a:buNone/>
            </a:pPr>
            <a:r>
              <a:rPr lang="en-US" sz="3600" b="1" dirty="0">
                <a:solidFill>
                  <a:srgbClr val="FFFFFF"/>
                </a:solidFill>
                <a:latin typeface="Times New Roman" pitchFamily="34" charset="0"/>
                <a:ea typeface="Times New Roman" pitchFamily="34" charset="-122"/>
                <a:cs typeface="Times New Roman" pitchFamily="34" charset="-120"/>
              </a:rPr>
              <a:t>Còn lại gì, và tại sao biết chắc</a:t>
            </a:r>
            <a:endParaRPr lang="en-US" sz="3600" dirty="0"/>
          </a:p>
        </p:txBody>
      </p:sp>
      <p:sp>
        <p:nvSpPr>
          <p:cNvPr id="4" name="Shape 2"/>
          <p:cNvSpPr/>
          <p:nvPr/>
        </p:nvSpPr>
        <p:spPr>
          <a:xfrm>
            <a:off x="822960" y="2148840"/>
            <a:ext cx="3246120" cy="1691640"/>
          </a:xfrm>
          <a:prstGeom prst="roundRect">
            <a:avLst>
              <a:gd name="adj" fmla="val 4324"/>
            </a:avLst>
          </a:prstGeom>
          <a:solidFill>
            <a:srgbClr val="1F3358"/>
          </a:solidFill>
          <a:ln w="12700">
            <a:solidFill>
              <a:srgbClr val="3B5480"/>
            </a:solidFill>
            <a:prstDash val="solid"/>
          </a:ln>
        </p:spPr>
      </p:sp>
      <p:sp>
        <p:nvSpPr>
          <p:cNvPr id="5" name="Text 3"/>
          <p:cNvSpPr txBox="1"/>
          <p:nvPr/>
        </p:nvSpPr>
        <p:spPr>
          <a:xfrm>
            <a:off x="822960" y="2377440"/>
            <a:ext cx="324612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Times New Roman" pitchFamily="34" charset="0"/>
                <a:ea typeface="Times New Roman" pitchFamily="34" charset="-122"/>
                <a:cs typeface="Times New Roman" pitchFamily="34" charset="-120"/>
              </a:rPr>
              <a:t>0.9124</a:t>
            </a:r>
            <a:endParaRPr lang="en-US" sz="3600" dirty="0"/>
          </a:p>
        </p:txBody>
      </p:sp>
      <p:sp>
        <p:nvSpPr>
          <p:cNvPr id="6" name="Text 4"/>
          <p:cNvSpPr txBox="1"/>
          <p:nvPr/>
        </p:nvSpPr>
        <p:spPr>
          <a:xfrm>
            <a:off x="1005840" y="3127248"/>
            <a:ext cx="2880360" cy="594360"/>
          </a:xfrm>
          <a:prstGeom prst="rect">
            <a:avLst/>
          </a:prstGeom>
          <a:noFill/>
          <a:ln/>
        </p:spPr>
        <p:txBody>
          <a:bodyPr wrap="square" lIns="0" tIns="0" rIns="0" bIns="0" rtlCol="0" anchor="ctr"/>
          <a:lstStyle/>
          <a:p>
            <a:pPr algn="ctr" indent="0" marL="0">
              <a:buNone/>
            </a:pPr>
            <a:r>
              <a:rPr lang="en-US" sz="1200" dirty="0">
                <a:solidFill>
                  <a:srgbClr val="CFDBEC"/>
                </a:solidFill>
                <a:latin typeface="Calibri" pitchFamily="34" charset="0"/>
                <a:ea typeface="Calibri" pitchFamily="34" charset="-122"/>
                <a:cs typeface="Calibri" pitchFamily="34" charset="-120"/>
              </a:rPr>
              <a:t>điểm hiện tại</a:t>
            </a:r>
            <a:endParaRPr lang="en-US" sz="1200" dirty="0"/>
          </a:p>
        </p:txBody>
      </p:sp>
      <p:sp>
        <p:nvSpPr>
          <p:cNvPr id="7" name="Shape 5"/>
          <p:cNvSpPr/>
          <p:nvPr/>
        </p:nvSpPr>
        <p:spPr>
          <a:xfrm>
            <a:off x="4343400" y="2148840"/>
            <a:ext cx="3246120" cy="1691640"/>
          </a:xfrm>
          <a:prstGeom prst="roundRect">
            <a:avLst>
              <a:gd name="adj" fmla="val 4324"/>
            </a:avLst>
          </a:prstGeom>
          <a:solidFill>
            <a:srgbClr val="1F3358"/>
          </a:solidFill>
          <a:ln w="12700">
            <a:solidFill>
              <a:srgbClr val="3B5480"/>
            </a:solidFill>
            <a:prstDash val="solid"/>
          </a:ln>
        </p:spPr>
      </p:sp>
      <p:sp>
        <p:nvSpPr>
          <p:cNvPr id="8" name="Text 6"/>
          <p:cNvSpPr txBox="1"/>
          <p:nvPr/>
        </p:nvSpPr>
        <p:spPr>
          <a:xfrm>
            <a:off x="4343400" y="2377440"/>
            <a:ext cx="324612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Times New Roman" pitchFamily="34" charset="0"/>
                <a:ea typeface="Times New Roman" pitchFamily="34" charset="-122"/>
                <a:cs typeface="Times New Roman" pitchFamily="34" charset="-120"/>
              </a:rPr>
              <a:t>0.9883</a:t>
            </a:r>
            <a:endParaRPr lang="en-US" sz="3600" dirty="0"/>
          </a:p>
        </p:txBody>
      </p:sp>
      <p:sp>
        <p:nvSpPr>
          <p:cNvPr id="9" name="Text 7"/>
          <p:cNvSpPr txBox="1"/>
          <p:nvPr/>
        </p:nvSpPr>
        <p:spPr>
          <a:xfrm>
            <a:off x="4526280" y="3127248"/>
            <a:ext cx="2880360" cy="594360"/>
          </a:xfrm>
          <a:prstGeom prst="rect">
            <a:avLst/>
          </a:prstGeom>
          <a:noFill/>
          <a:ln/>
        </p:spPr>
        <p:txBody>
          <a:bodyPr wrap="square" lIns="0" tIns="0" rIns="0" bIns="0" rtlCol="0" anchor="ctr"/>
          <a:lstStyle/>
          <a:p>
            <a:pPr algn="ctr" indent="0" marL="0">
              <a:buNone/>
            </a:pPr>
            <a:r>
              <a:rPr lang="en-US" sz="1200" dirty="0">
                <a:solidFill>
                  <a:srgbClr val="CFDBEC"/>
                </a:solidFill>
                <a:latin typeface="Calibri" pitchFamily="34" charset="0"/>
                <a:ea typeface="Calibri" pitchFamily="34" charset="-122"/>
                <a:cs typeface="Calibri" pitchFamily="34" charset="-120"/>
              </a:rPr>
              <a:t>trần của hệ — recall@50 của rổ</a:t>
            </a:r>
            <a:endParaRPr lang="en-US" sz="1200" dirty="0"/>
          </a:p>
        </p:txBody>
      </p:sp>
      <p:sp>
        <p:nvSpPr>
          <p:cNvPr id="10" name="Shape 8"/>
          <p:cNvSpPr/>
          <p:nvPr/>
        </p:nvSpPr>
        <p:spPr>
          <a:xfrm>
            <a:off x="7863840" y="2148840"/>
            <a:ext cx="3246120" cy="1691640"/>
          </a:xfrm>
          <a:prstGeom prst="roundRect">
            <a:avLst>
              <a:gd name="adj" fmla="val 4324"/>
            </a:avLst>
          </a:prstGeom>
          <a:solidFill>
            <a:srgbClr val="1F3358"/>
          </a:solidFill>
          <a:ln w="12700">
            <a:solidFill>
              <a:srgbClr val="3B5480"/>
            </a:solidFill>
            <a:prstDash val="solid"/>
          </a:ln>
        </p:spPr>
      </p:sp>
      <p:sp>
        <p:nvSpPr>
          <p:cNvPr id="11" name="Text 9"/>
          <p:cNvSpPr txBox="1"/>
          <p:nvPr/>
        </p:nvSpPr>
        <p:spPr>
          <a:xfrm>
            <a:off x="7863840" y="2377440"/>
            <a:ext cx="324612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Times New Roman" pitchFamily="34" charset="0"/>
                <a:ea typeface="Times New Roman" pitchFamily="34" charset="-122"/>
                <a:cs typeface="Times New Roman" pitchFamily="34" charset="-120"/>
              </a:rPr>
              <a:t>0.6217</a:t>
            </a:r>
            <a:endParaRPr lang="en-US" sz="3600" dirty="0"/>
          </a:p>
        </p:txBody>
      </p:sp>
      <p:sp>
        <p:nvSpPr>
          <p:cNvPr id="12" name="Text 10"/>
          <p:cNvSpPr txBox="1"/>
          <p:nvPr/>
        </p:nvSpPr>
        <p:spPr>
          <a:xfrm>
            <a:off x="8046720" y="3127248"/>
            <a:ext cx="2880360" cy="594360"/>
          </a:xfrm>
          <a:prstGeom prst="rect">
            <a:avLst/>
          </a:prstGeom>
          <a:noFill/>
          <a:ln/>
        </p:spPr>
        <p:txBody>
          <a:bodyPr wrap="square" lIns="0" tIns="0" rIns="0" bIns="0" rtlCol="0" anchor="ctr"/>
          <a:lstStyle/>
          <a:p>
            <a:pPr algn="ctr" indent="0" marL="0">
              <a:buNone/>
            </a:pPr>
            <a:r>
              <a:rPr lang="en-US" sz="1200" dirty="0">
                <a:solidFill>
                  <a:srgbClr val="CFDBEC"/>
                </a:solidFill>
                <a:latin typeface="Calibri" pitchFamily="34" charset="0"/>
                <a:ea typeface="Calibri" pitchFamily="34" charset="-122"/>
                <a:cs typeface="Calibri" pitchFamily="34" charset="-120"/>
              </a:rPr>
              <a:t>recall@1 của rổ — chỗ hở lớn nhất còn lại</a:t>
            </a:r>
            <a:endParaRPr lang="en-US" sz="1200" dirty="0"/>
          </a:p>
        </p:txBody>
      </p:sp>
      <p:sp>
        <p:nvSpPr>
          <p:cNvPr id="13" name="Text 11"/>
          <p:cNvSpPr txBox="1"/>
          <p:nvPr/>
        </p:nvSpPr>
        <p:spPr>
          <a:xfrm>
            <a:off x="822960" y="4160520"/>
            <a:ext cx="10515600" cy="1188720"/>
          </a:xfrm>
          <a:prstGeom prst="rect">
            <a:avLst/>
          </a:prstGeom>
          <a:noFill/>
          <a:ln/>
        </p:spPr>
        <p:txBody>
          <a:bodyPr wrap="square" lIns="0" tIns="0" rIns="0" bIns="0" rtlCol="0" anchor="ctr"/>
          <a:lstStyle/>
          <a:p>
            <a:pPr indent="0" marL="0">
              <a:lnSpc>
                <a:spcPts val="2600"/>
              </a:lnSpc>
              <a:buNone/>
            </a:pPr>
            <a:r>
              <a:rPr lang="en-US" sz="1500" dirty="0">
                <a:solidFill>
                  <a:srgbClr val="FFFFFF"/>
                </a:solidFill>
                <a:latin typeface="Calibri" pitchFamily="34" charset="0"/>
                <a:ea typeface="Calibri" pitchFamily="34" charset="-122"/>
                <a:cs typeface="Calibri" pitchFamily="34" charset="-120"/>
              </a:rPr>
              <a:t>Việc còn lại không phải "lấy thêm văn bản vào rổ" — chỉ còn 3 câu trên 300 nằm ngoài rổ.</a:t>
            </a:r>
            <a:endParaRPr lang="en-US" sz="1500" dirty="0"/>
          </a:p>
          <a:p>
            <a:pPr indent="0" marL="0">
              <a:lnSpc>
                <a:spcPts val="2600"/>
              </a:lnSpc>
              <a:buNone/>
            </a:pPr>
            <a:r>
              <a:rPr lang="en-US" sz="1500" dirty="0">
                <a:solidFill>
                  <a:srgbClr val="FFFFFF"/>
                </a:solidFill>
                <a:latin typeface="Calibri" pitchFamily="34" charset="0"/>
                <a:ea typeface="Calibri" pitchFamily="34" charset="-122"/>
                <a:cs typeface="Calibri" pitchFamily="34" charset="-120"/>
              </a:rPr>
              <a:t>Mà là "xếp đúng hơn ở hạng 1–5": quy tắc chốt đưa 2 slot đầu của rổ THẲNG vào đáp án,</a:t>
            </a:r>
            <a:endParaRPr lang="en-US" sz="1500" dirty="0"/>
          </a:p>
          <a:p>
            <a:pPr indent="0" marL="0">
              <a:lnSpc>
                <a:spcPts val="2600"/>
              </a:lnSpc>
              <a:buNone/>
            </a:pPr>
            <a:r>
              <a:rPr lang="en-US" sz="1500" dirty="0">
                <a:solidFill>
                  <a:srgbClr val="FFFFFF"/>
                </a:solidFill>
                <a:latin typeface="Calibri" pitchFamily="34" charset="0"/>
                <a:ea typeface="Calibri" pitchFamily="34" charset="-122"/>
                <a:cs typeface="Calibri" pitchFamily="34" charset="-120"/>
              </a:rPr>
              <a:t>nên mỗi điểm recall@1 đi thẳng vào kết quả cuối, không bị khâu nào ở giữa làm loãng.</a:t>
            </a:r>
            <a:endParaRPr lang="en-US" sz="1500" dirty="0"/>
          </a:p>
        </p:txBody>
      </p:sp>
      <p:sp>
        <p:nvSpPr>
          <p:cNvPr id="14" name="Text 12"/>
          <p:cNvSpPr txBox="1"/>
          <p:nvPr/>
        </p:nvSpPr>
        <p:spPr>
          <a:xfrm>
            <a:off x="822960" y="5760720"/>
            <a:ext cx="10515600" cy="457200"/>
          </a:xfrm>
          <a:prstGeom prst="rect">
            <a:avLst/>
          </a:prstGeom>
          <a:noFill/>
          <a:ln/>
        </p:spPr>
        <p:txBody>
          <a:bodyPr wrap="square" lIns="0" tIns="0" rIns="0" bIns="0" rtlCol="0" anchor="ctr"/>
          <a:lstStyle/>
          <a:p>
            <a:pPr indent="0" marL="0">
              <a:buNone/>
            </a:pPr>
            <a:r>
              <a:rPr lang="en-US" sz="1300" i="1" dirty="0">
                <a:solidFill>
                  <a:srgbClr val="8FA5C4"/>
                </a:solidFill>
                <a:latin typeface="Calibri" pitchFamily="34" charset="0"/>
                <a:ea typeface="Calibri" pitchFamily="34" charset="-122"/>
                <a:cs typeface="Calibri" pitchFamily="34" charset="-120"/>
              </a:rPr>
              <a:t>Mọi kết luận trong bài trình bày này đều gắn với một phép đo cụ thể. Không có kết luận nào rút ra từ phỏng đoán.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2026-08-30T11:09:21Z</dcterms:created>
  <dcterms:modified xsi:type="dcterms:W3CDTF">2026-08-30T11:09:21Z</dcterms:modified>
</cp:coreProperties>
</file>